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448" y="1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506983-486F-B741-ABD9-5CB6C8667BD6}" type="datetimeFigureOut">
              <a:rPr lang="en-US" smtClean="0"/>
              <a:t>7/12/26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9E8D97-D32C-BC4F-9FA7-C1256417F7C2}" type="slidenum">
              <a:rPr lang="en-US" smtClean="0"/>
              <a:t>‹#›</a:t>
            </a:fld>
            <a:endParaRPr lang="en-US"/>
          </a:p>
        </p:txBody>
      </p:sp>
    </p:spTree>
    <p:extLst>
      <p:ext uri="{BB962C8B-B14F-4D97-AF65-F5344CB8AC3E}">
        <p14:creationId xmlns:p14="http://schemas.microsoft.com/office/powerpoint/2010/main" val="525108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9E8D97-D32C-BC4F-9FA7-C1256417F7C2}" type="slidenum">
              <a:rPr lang="en-US" smtClean="0"/>
              <a:t>5</a:t>
            </a:fld>
            <a:endParaRPr lang="en-US"/>
          </a:p>
        </p:txBody>
      </p:sp>
    </p:spTree>
    <p:extLst>
      <p:ext uri="{BB962C8B-B14F-4D97-AF65-F5344CB8AC3E}">
        <p14:creationId xmlns:p14="http://schemas.microsoft.com/office/powerpoint/2010/main" val="1804979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9E8D97-D32C-BC4F-9FA7-C1256417F7C2}" type="slidenum">
              <a:rPr lang="en-US" smtClean="0"/>
              <a:t>6</a:t>
            </a:fld>
            <a:endParaRPr lang="en-US"/>
          </a:p>
        </p:txBody>
      </p:sp>
    </p:spTree>
    <p:extLst>
      <p:ext uri="{BB962C8B-B14F-4D97-AF65-F5344CB8AC3E}">
        <p14:creationId xmlns:p14="http://schemas.microsoft.com/office/powerpoint/2010/main" val="2220343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eyebrow"/>
          <p:cNvSpPr txBox="1"/>
          <p:nvPr/>
        </p:nvSpPr>
        <p:spPr>
          <a:xfrm>
            <a:off x="658368" y="420624"/>
            <a:ext cx="4754880" cy="329184"/>
          </a:xfrm>
          <a:prstGeom prst="rect">
            <a:avLst/>
          </a:prstGeom>
          <a:noFill/>
        </p:spPr>
        <p:txBody>
          <a:bodyPr wrap="square" lIns="50800" tIns="12700" rIns="50800" bIns="12700" anchor="t">
            <a:spAutoFit/>
          </a:bodyPr>
          <a:lstStyle/>
          <a:p>
            <a:pPr algn="l"/>
            <a:r>
              <a:rPr sz="950" b="1">
                <a:solidFill>
                  <a:srgbClr val="6F768A"/>
                </a:solidFill>
                <a:latin typeface="Arial"/>
              </a:rPr>
              <a:t>Analytics report</a:t>
            </a:r>
          </a:p>
        </p:txBody>
      </p:sp>
      <p:sp>
        <p:nvSpPr>
          <p:cNvPr id="4" name="slide-title"/>
          <p:cNvSpPr txBox="1"/>
          <p:nvPr/>
        </p:nvSpPr>
        <p:spPr>
          <a:xfrm>
            <a:off x="621792" y="868680"/>
            <a:ext cx="10698480" cy="1417320"/>
          </a:xfrm>
          <a:prstGeom prst="rect">
            <a:avLst/>
          </a:prstGeom>
          <a:noFill/>
        </p:spPr>
        <p:txBody>
          <a:bodyPr wrap="square" lIns="50800" tIns="12700" rIns="50800" bIns="12700" anchor="t">
            <a:spAutoFit/>
          </a:bodyPr>
          <a:lstStyle/>
          <a:p>
            <a:pPr algn="l"/>
            <a:r>
              <a:rPr sz="2800" b="1">
                <a:solidFill>
                  <a:srgbClr val="1F2430"/>
                </a:solidFill>
                <a:latin typeface="Arial"/>
              </a:rPr>
              <a:t>Natural Failures and Subtask-Guided Recovery in RoboCasa</a:t>
            </a:r>
          </a:p>
        </p:txBody>
      </p:sp>
      <p:sp>
        <p:nvSpPr>
          <p:cNvPr id="5" name="title-rule"/>
          <p:cNvSpPr/>
          <p:nvPr/>
        </p:nvSpPr>
        <p:spPr>
          <a:xfrm>
            <a:off x="658368" y="2468880"/>
            <a:ext cx="1325880" cy="22860"/>
          </a:xfrm>
          <a:prstGeom prst="rect">
            <a:avLst/>
          </a:prstGeom>
          <a:solidFill>
            <a:srgbClr val="B8A037"/>
          </a:solidFill>
          <a:ln>
            <a:solidFill>
              <a:srgbClr val="B8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lede"/>
          <p:cNvSpPr txBox="1"/>
          <p:nvPr/>
        </p:nvSpPr>
        <p:spPr>
          <a:xfrm>
            <a:off x="658368" y="2761488"/>
            <a:ext cx="9784080" cy="914400"/>
          </a:xfrm>
          <a:prstGeom prst="rect">
            <a:avLst/>
          </a:prstGeom>
          <a:noFill/>
        </p:spPr>
        <p:txBody>
          <a:bodyPr wrap="square" lIns="50800" tIns="12700" rIns="50800" bIns="12700" anchor="t">
            <a:spAutoFit/>
          </a:bodyPr>
          <a:lstStyle/>
          <a:p>
            <a:pPr algn="l"/>
            <a:endParaRPr/>
          </a:p>
        </p:txBody>
      </p:sp>
      <p:sp>
        <p:nvSpPr>
          <p:cNvPr id="7" name="metric-1"/>
          <p:cNvSpPr/>
          <p:nvPr/>
        </p:nvSpPr>
        <p:spPr>
          <a:xfrm>
            <a:off x="658368" y="4983480"/>
            <a:ext cx="2596896" cy="1133856"/>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metric-label-1"/>
          <p:cNvSpPr txBox="1"/>
          <p:nvPr/>
        </p:nvSpPr>
        <p:spPr>
          <a:xfrm>
            <a:off x="768096" y="5093208"/>
            <a:ext cx="2377439" cy="292608"/>
          </a:xfrm>
          <a:prstGeom prst="rect">
            <a:avLst/>
          </a:prstGeom>
          <a:noFill/>
        </p:spPr>
        <p:txBody>
          <a:bodyPr wrap="square" lIns="50800" tIns="12700" rIns="50800" bIns="12700" anchor="t">
            <a:spAutoFit/>
          </a:bodyPr>
          <a:lstStyle/>
          <a:p>
            <a:pPr algn="l"/>
            <a:r>
              <a:rPr sz="750" b="1">
                <a:solidFill>
                  <a:srgbClr val="6F768A"/>
                </a:solidFill>
                <a:latin typeface="Arial"/>
              </a:rPr>
              <a:t>pi0 composite-seen success</a:t>
            </a:r>
          </a:p>
        </p:txBody>
      </p:sp>
      <p:sp>
        <p:nvSpPr>
          <p:cNvPr id="9" name="metric-value-1"/>
          <p:cNvSpPr txBox="1"/>
          <p:nvPr/>
        </p:nvSpPr>
        <p:spPr>
          <a:xfrm>
            <a:off x="768096" y="5404104"/>
            <a:ext cx="2377439" cy="420624"/>
          </a:xfrm>
          <a:prstGeom prst="rect">
            <a:avLst/>
          </a:prstGeom>
          <a:noFill/>
        </p:spPr>
        <p:txBody>
          <a:bodyPr wrap="square" lIns="50800" tIns="12700" rIns="50800" bIns="12700" anchor="t">
            <a:spAutoFit/>
          </a:bodyPr>
          <a:lstStyle/>
          <a:p>
            <a:pPr algn="l"/>
            <a:r>
              <a:rPr sz="1900" b="1">
                <a:solidFill>
                  <a:srgbClr val="2E4780"/>
                </a:solidFill>
                <a:latin typeface="Arial"/>
              </a:rPr>
              <a:t>6.1%</a:t>
            </a:r>
          </a:p>
        </p:txBody>
      </p:sp>
      <p:sp>
        <p:nvSpPr>
          <p:cNvPr id="10" name="metric-note-1"/>
          <p:cNvSpPr txBox="1"/>
          <p:nvPr/>
        </p:nvSpPr>
        <p:spPr>
          <a:xfrm>
            <a:off x="768096" y="5760720"/>
            <a:ext cx="2377439" cy="329184"/>
          </a:xfrm>
          <a:prstGeom prst="rect">
            <a:avLst/>
          </a:prstGeom>
          <a:noFill/>
        </p:spPr>
        <p:txBody>
          <a:bodyPr wrap="square" lIns="50800" tIns="12700" rIns="50800" bIns="12700" anchor="t">
            <a:spAutoFit/>
          </a:bodyPr>
          <a:lstStyle/>
          <a:p>
            <a:pPr algn="l"/>
            <a:r>
              <a:rPr sz="750" b="0">
                <a:solidFill>
                  <a:srgbClr val="6F768A"/>
                </a:solidFill>
                <a:latin typeface="Arial"/>
              </a:rPr>
              <a:t>Success across 16 composite-seen target tasks.</a:t>
            </a:r>
          </a:p>
        </p:txBody>
      </p:sp>
      <p:sp>
        <p:nvSpPr>
          <p:cNvPr id="11" name="metric-2"/>
          <p:cNvSpPr/>
          <p:nvPr/>
        </p:nvSpPr>
        <p:spPr>
          <a:xfrm>
            <a:off x="3419856" y="4983480"/>
            <a:ext cx="2596896" cy="1133856"/>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metric-label-2"/>
          <p:cNvSpPr txBox="1"/>
          <p:nvPr/>
        </p:nvSpPr>
        <p:spPr>
          <a:xfrm>
            <a:off x="3529584" y="5093208"/>
            <a:ext cx="2377439" cy="292608"/>
          </a:xfrm>
          <a:prstGeom prst="rect">
            <a:avLst/>
          </a:prstGeom>
          <a:noFill/>
        </p:spPr>
        <p:txBody>
          <a:bodyPr wrap="square" lIns="50800" tIns="12700" rIns="50800" bIns="12700" anchor="t">
            <a:spAutoFit/>
          </a:bodyPr>
          <a:lstStyle/>
          <a:p>
            <a:pPr algn="l"/>
            <a:r>
              <a:rPr sz="750" b="1">
                <a:solidFill>
                  <a:srgbClr val="6F768A"/>
                </a:solidFill>
                <a:latin typeface="Arial"/>
              </a:rPr>
              <a:t>RLDX-1 composite-seen success</a:t>
            </a:r>
          </a:p>
        </p:txBody>
      </p:sp>
      <p:sp>
        <p:nvSpPr>
          <p:cNvPr id="13" name="metric-value-2"/>
          <p:cNvSpPr txBox="1"/>
          <p:nvPr/>
        </p:nvSpPr>
        <p:spPr>
          <a:xfrm>
            <a:off x="3529584" y="5404104"/>
            <a:ext cx="2377439" cy="420624"/>
          </a:xfrm>
          <a:prstGeom prst="rect">
            <a:avLst/>
          </a:prstGeom>
          <a:noFill/>
        </p:spPr>
        <p:txBody>
          <a:bodyPr wrap="square" lIns="50800" tIns="12700" rIns="50800" bIns="12700" anchor="t">
            <a:spAutoFit/>
          </a:bodyPr>
          <a:lstStyle/>
          <a:p>
            <a:pPr algn="l"/>
            <a:r>
              <a:rPr sz="1900" b="1">
                <a:solidFill>
                  <a:srgbClr val="2E4780"/>
                </a:solidFill>
                <a:latin typeface="Arial"/>
              </a:rPr>
              <a:t>27.9%</a:t>
            </a:r>
          </a:p>
        </p:txBody>
      </p:sp>
      <p:sp>
        <p:nvSpPr>
          <p:cNvPr id="14" name="metric-note-2"/>
          <p:cNvSpPr txBox="1"/>
          <p:nvPr/>
        </p:nvSpPr>
        <p:spPr>
          <a:xfrm>
            <a:off x="3529584" y="5760720"/>
            <a:ext cx="2377439" cy="329184"/>
          </a:xfrm>
          <a:prstGeom prst="rect">
            <a:avLst/>
          </a:prstGeom>
          <a:noFill/>
        </p:spPr>
        <p:txBody>
          <a:bodyPr wrap="square" lIns="50800" tIns="12700" rIns="50800" bIns="12700" anchor="t">
            <a:spAutoFit/>
          </a:bodyPr>
          <a:lstStyle/>
          <a:p>
            <a:pPr algn="l"/>
            <a:r>
              <a:rPr sz="750" b="0">
                <a:solidFill>
                  <a:srgbClr val="6F768A"/>
                </a:solidFill>
                <a:latin typeface="Arial"/>
              </a:rPr>
              <a:t>Success across 16 composite-seen target tasks.</a:t>
            </a:r>
          </a:p>
        </p:txBody>
      </p:sp>
      <p:sp>
        <p:nvSpPr>
          <p:cNvPr id="15" name="metric-3"/>
          <p:cNvSpPr/>
          <p:nvPr/>
        </p:nvSpPr>
        <p:spPr>
          <a:xfrm>
            <a:off x="6181344" y="4983480"/>
            <a:ext cx="2596896" cy="1133856"/>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metric-label-3"/>
          <p:cNvSpPr txBox="1"/>
          <p:nvPr/>
        </p:nvSpPr>
        <p:spPr>
          <a:xfrm>
            <a:off x="6291072" y="5093208"/>
            <a:ext cx="2377439" cy="292608"/>
          </a:xfrm>
          <a:prstGeom prst="rect">
            <a:avLst/>
          </a:prstGeom>
          <a:noFill/>
        </p:spPr>
        <p:txBody>
          <a:bodyPr wrap="square" lIns="50800" tIns="12700" rIns="50800" bIns="12700" anchor="t">
            <a:spAutoFit/>
          </a:bodyPr>
          <a:lstStyle/>
          <a:p>
            <a:pPr algn="l"/>
            <a:r>
              <a:rPr sz="750" b="1">
                <a:solidFill>
                  <a:srgbClr val="6F768A"/>
                </a:solidFill>
                <a:latin typeface="Arial"/>
              </a:rPr>
              <a:t>Composite-seen tasks</a:t>
            </a:r>
          </a:p>
        </p:txBody>
      </p:sp>
      <p:sp>
        <p:nvSpPr>
          <p:cNvPr id="17" name="metric-value-3"/>
          <p:cNvSpPr txBox="1"/>
          <p:nvPr/>
        </p:nvSpPr>
        <p:spPr>
          <a:xfrm>
            <a:off x="6291072" y="5404104"/>
            <a:ext cx="2377439" cy="420624"/>
          </a:xfrm>
          <a:prstGeom prst="rect">
            <a:avLst/>
          </a:prstGeom>
          <a:noFill/>
        </p:spPr>
        <p:txBody>
          <a:bodyPr wrap="square" lIns="50800" tIns="12700" rIns="50800" bIns="12700" anchor="t">
            <a:spAutoFit/>
          </a:bodyPr>
          <a:lstStyle/>
          <a:p>
            <a:pPr algn="l"/>
            <a:r>
              <a:rPr sz="1900" b="1">
                <a:solidFill>
                  <a:srgbClr val="2E4780"/>
                </a:solidFill>
                <a:latin typeface="Arial"/>
              </a:rPr>
              <a:t>16</a:t>
            </a:r>
          </a:p>
        </p:txBody>
      </p:sp>
      <p:sp>
        <p:nvSpPr>
          <p:cNvPr id="18" name="metric-note-3"/>
          <p:cNvSpPr txBox="1"/>
          <p:nvPr/>
        </p:nvSpPr>
        <p:spPr>
          <a:xfrm>
            <a:off x="6291072" y="5760720"/>
            <a:ext cx="2377439" cy="329184"/>
          </a:xfrm>
          <a:prstGeom prst="rect">
            <a:avLst/>
          </a:prstGeom>
          <a:noFill/>
        </p:spPr>
        <p:txBody>
          <a:bodyPr wrap="square" lIns="50800" tIns="12700" rIns="50800" bIns="12700" anchor="t">
            <a:spAutoFit/>
          </a:bodyPr>
          <a:lstStyle/>
          <a:p>
            <a:pPr algn="l"/>
            <a:r>
              <a:rPr sz="650" b="0">
                <a:solidFill>
                  <a:srgbClr val="6F768A"/>
                </a:solidFill>
                <a:latin typeface="Arial"/>
              </a:rPr>
              <a:t>Number of target composite tasks seen during Human300 pretraining.</a:t>
            </a:r>
          </a:p>
        </p:txBody>
      </p:sp>
      <p:sp>
        <p:nvSpPr>
          <p:cNvPr id="19" name="metric-4"/>
          <p:cNvSpPr/>
          <p:nvPr/>
        </p:nvSpPr>
        <p:spPr>
          <a:xfrm>
            <a:off x="8942832" y="4983480"/>
            <a:ext cx="2596896" cy="1133856"/>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metric-label-4"/>
          <p:cNvSpPr txBox="1"/>
          <p:nvPr/>
        </p:nvSpPr>
        <p:spPr>
          <a:xfrm>
            <a:off x="9052560" y="5093208"/>
            <a:ext cx="2377439" cy="292608"/>
          </a:xfrm>
          <a:prstGeom prst="rect">
            <a:avLst/>
          </a:prstGeom>
          <a:noFill/>
        </p:spPr>
        <p:txBody>
          <a:bodyPr wrap="square" lIns="50800" tIns="12700" rIns="50800" bIns="12700" anchor="t">
            <a:spAutoFit/>
          </a:bodyPr>
          <a:lstStyle/>
          <a:p>
            <a:pPr algn="l"/>
            <a:r>
              <a:rPr sz="750" b="1">
                <a:solidFill>
                  <a:srgbClr val="6F768A"/>
                </a:solidFill>
                <a:latin typeface="Arial"/>
              </a:rPr>
              <a:t>Composite-unseen tasks</a:t>
            </a:r>
          </a:p>
        </p:txBody>
      </p:sp>
      <p:sp>
        <p:nvSpPr>
          <p:cNvPr id="21" name="metric-value-4"/>
          <p:cNvSpPr txBox="1"/>
          <p:nvPr/>
        </p:nvSpPr>
        <p:spPr>
          <a:xfrm>
            <a:off x="9052560" y="5404104"/>
            <a:ext cx="2377439" cy="420624"/>
          </a:xfrm>
          <a:prstGeom prst="rect">
            <a:avLst/>
          </a:prstGeom>
          <a:noFill/>
        </p:spPr>
        <p:txBody>
          <a:bodyPr wrap="square" lIns="50800" tIns="12700" rIns="50800" bIns="12700" anchor="t">
            <a:spAutoFit/>
          </a:bodyPr>
          <a:lstStyle/>
          <a:p>
            <a:pPr algn="l"/>
            <a:r>
              <a:rPr sz="1900" b="1">
                <a:solidFill>
                  <a:srgbClr val="2E4780"/>
                </a:solidFill>
                <a:latin typeface="Arial"/>
              </a:rPr>
              <a:t>16</a:t>
            </a:r>
          </a:p>
        </p:txBody>
      </p:sp>
      <p:sp>
        <p:nvSpPr>
          <p:cNvPr id="22" name="metric-note-4"/>
          <p:cNvSpPr txBox="1"/>
          <p:nvPr/>
        </p:nvSpPr>
        <p:spPr>
          <a:xfrm>
            <a:off x="9052560" y="5760720"/>
            <a:ext cx="2377439" cy="329184"/>
          </a:xfrm>
          <a:prstGeom prst="rect">
            <a:avLst/>
          </a:prstGeom>
          <a:noFill/>
        </p:spPr>
        <p:txBody>
          <a:bodyPr wrap="square" lIns="50800" tIns="12700" rIns="50800" bIns="12700" anchor="t">
            <a:spAutoFit/>
          </a:bodyPr>
          <a:lstStyle/>
          <a:p>
            <a:pPr algn="l"/>
            <a:r>
              <a:rPr sz="650" b="0">
                <a:solidFill>
                  <a:srgbClr val="6F768A"/>
                </a:solidFill>
                <a:latin typeface="Arial"/>
              </a:rPr>
              <a:t>Number of held-out composite tasks evaluated zero-shot.</a:t>
            </a:r>
          </a:p>
        </p:txBody>
      </p:sp>
      <p:sp>
        <p:nvSpPr>
          <p:cNvPr id="23" name="source-note"/>
          <p:cNvSpPr txBox="1"/>
          <p:nvPr/>
        </p:nvSpPr>
        <p:spPr>
          <a:xfrm>
            <a:off x="566928" y="6419088"/>
            <a:ext cx="11064240" cy="310896"/>
          </a:xfrm>
          <a:prstGeom prst="rect">
            <a:avLst/>
          </a:prstGeom>
          <a:noFill/>
        </p:spPr>
        <p:txBody>
          <a:bodyPr wrap="square" lIns="50800" tIns="12700" rIns="50800" bIns="12700" anchor="t">
            <a:spAutoFit/>
          </a:bodyPr>
          <a:lstStyle/>
          <a:p>
            <a:pPr algn="l"/>
            <a:r>
              <a:rPr sz="750" b="0">
                <a:solidFill>
                  <a:srgbClr val="6F768A"/>
                </a:solidFill>
                <a:latin typeface="Arial"/>
              </a:rPr>
              <a:t>Source: RoboCasa365 official leaderboard · Table: robocasa.ai.leaderboard · Materializes the reviewed RoboCasa365 policy-by-split leaderboard values used in this report.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slide-title"/>
          <p:cNvSpPr txBox="1"/>
          <p:nvPr/>
        </p:nvSpPr>
        <p:spPr>
          <a:xfrm>
            <a:off x="594360" y="411480"/>
            <a:ext cx="10972800" cy="548640"/>
          </a:xfrm>
          <a:prstGeom prst="rect">
            <a:avLst/>
          </a:prstGeom>
          <a:noFill/>
        </p:spPr>
        <p:txBody>
          <a:bodyPr wrap="square" lIns="50800" tIns="12700" rIns="50800" bIns="12700" anchor="t">
            <a:spAutoFit/>
          </a:bodyPr>
          <a:lstStyle/>
          <a:p>
            <a:pPr algn="l"/>
            <a:r>
              <a:rPr sz="2500" b="1">
                <a:solidFill>
                  <a:srgbClr val="1F2430"/>
                </a:solidFill>
                <a:latin typeface="Arial"/>
              </a:rPr>
              <a:t>Executive summary</a:t>
            </a:r>
          </a:p>
        </p:txBody>
      </p:sp>
      <p:sp>
        <p:nvSpPr>
          <p:cNvPr id="4" name="summary-rule"/>
          <p:cNvSpPr/>
          <p:nvPr/>
        </p:nvSpPr>
        <p:spPr>
          <a:xfrm>
            <a:off x="658368" y="1069848"/>
            <a:ext cx="1097280" cy="22860"/>
          </a:xfrm>
          <a:prstGeom prst="rect">
            <a:avLst/>
          </a:prstGeom>
          <a:solidFill>
            <a:srgbClr val="B8A037"/>
          </a:solidFill>
          <a:ln>
            <a:solidFill>
              <a:srgbClr val="B8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ummary-bullets"/>
          <p:cNvSpPr txBox="1"/>
          <p:nvPr/>
        </p:nvSpPr>
        <p:spPr>
          <a:xfrm>
            <a:off x="658368" y="1353312"/>
            <a:ext cx="6473952" cy="4160520"/>
          </a:xfrm>
          <a:prstGeom prst="rect">
            <a:avLst/>
          </a:prstGeom>
          <a:noFill/>
        </p:spPr>
        <p:txBody>
          <a:bodyPr wrap="square" lIns="50800" tIns="12700" rIns="50800" bIns="12700">
            <a:spAutoFit/>
          </a:bodyPr>
          <a:lstStyle/>
          <a:p>
            <a:pPr marL="285750" indent="-142875">
              <a:buChar char="•"/>
            </a:pPr>
            <a:r>
              <a:rPr sz="1570">
                <a:solidFill>
                  <a:srgbClr val="1F2430"/>
                </a:solidFill>
                <a:latin typeface="Arial"/>
              </a:rPr>
              <a:t>Use RoboCasa as the primary benchmark, retain pi0 as a weak-policy baseline, and add RLDX-1 as the higher-progress policy.</a:t>
            </a:r>
          </a:p>
          <a:p>
            <a:pPr marL="285750" indent="-142875">
              <a:buChar char="•"/>
            </a:pPr>
            <a:r>
              <a:rPr sz="1570">
                <a:solidFill>
                  <a:srgbClr val="1F2430"/>
                </a:solidFill>
                <a:latin typeface="Arial"/>
              </a:rPr>
              <a:t>Recovery demonstrations are not required for locally retryable failures when the environment remains task-valid and the base policy assigns some probability to a successful continuation.</a:t>
            </a:r>
          </a:p>
          <a:p>
            <a:pPr marL="285750" indent="-142875">
              <a:buChar char="•"/>
            </a:pPr>
            <a:r>
              <a:rPr sz="1570">
                <a:solidFill>
                  <a:srgbClr val="1F2430"/>
                </a:solidFill>
                <a:latin typeface="Arial"/>
              </a:rPr>
              <a:t>The dataset should remain centered on natural on-policy failures, with expert-derived perturbations used as controlled augmentation rather than as the main scientific claim.</a:t>
            </a:r>
          </a:p>
        </p:txBody>
      </p:sp>
      <p:sp>
        <p:nvSpPr>
          <p:cNvPr id="6" name="metrics-heading"/>
          <p:cNvSpPr txBox="1"/>
          <p:nvPr/>
        </p:nvSpPr>
        <p:spPr>
          <a:xfrm>
            <a:off x="7607808" y="1115568"/>
            <a:ext cx="3886200" cy="310896"/>
          </a:xfrm>
          <a:prstGeom prst="rect">
            <a:avLst/>
          </a:prstGeom>
          <a:noFill/>
        </p:spPr>
        <p:txBody>
          <a:bodyPr wrap="square" lIns="50800" tIns="12700" rIns="50800" bIns="12700" anchor="t">
            <a:spAutoFit/>
          </a:bodyPr>
          <a:lstStyle/>
          <a:p>
            <a:pPr algn="l"/>
            <a:r>
              <a:rPr sz="1050" b="1">
                <a:solidFill>
                  <a:srgbClr val="6F768A"/>
                </a:solidFill>
                <a:latin typeface="Arial"/>
              </a:rPr>
              <a:t>Key metrics</a:t>
            </a:r>
          </a:p>
        </p:txBody>
      </p:sp>
      <p:sp>
        <p:nvSpPr>
          <p:cNvPr id="7" name="metric-card-1"/>
          <p:cNvSpPr/>
          <p:nvPr/>
        </p:nvSpPr>
        <p:spPr>
          <a:xfrm>
            <a:off x="7607808" y="1536192"/>
            <a:ext cx="1851660" cy="1554480"/>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ummary-metric-label-1"/>
          <p:cNvSpPr txBox="1"/>
          <p:nvPr/>
        </p:nvSpPr>
        <p:spPr>
          <a:xfrm>
            <a:off x="7735824" y="1645919"/>
            <a:ext cx="1595628" cy="420624"/>
          </a:xfrm>
          <a:prstGeom prst="rect">
            <a:avLst/>
          </a:prstGeom>
          <a:noFill/>
        </p:spPr>
        <p:txBody>
          <a:bodyPr wrap="square" lIns="50800" tIns="12700" rIns="50800" bIns="12700" anchor="t">
            <a:spAutoFit/>
          </a:bodyPr>
          <a:lstStyle/>
          <a:p>
            <a:pPr algn="l"/>
            <a:r>
              <a:rPr sz="840" b="1">
                <a:solidFill>
                  <a:srgbClr val="6F768A"/>
                </a:solidFill>
                <a:latin typeface="Arial"/>
              </a:rPr>
              <a:t>pi0 composite-seen success</a:t>
            </a:r>
          </a:p>
        </p:txBody>
      </p:sp>
      <p:sp>
        <p:nvSpPr>
          <p:cNvPr id="9" name="summary-metric-value-1"/>
          <p:cNvSpPr txBox="1"/>
          <p:nvPr/>
        </p:nvSpPr>
        <p:spPr>
          <a:xfrm>
            <a:off x="7735824" y="2103120"/>
            <a:ext cx="1595628" cy="384048"/>
          </a:xfrm>
          <a:prstGeom prst="rect">
            <a:avLst/>
          </a:prstGeom>
          <a:noFill/>
        </p:spPr>
        <p:txBody>
          <a:bodyPr wrap="square" lIns="50800" tIns="12700" rIns="50800" bIns="12700" anchor="t">
            <a:spAutoFit/>
          </a:bodyPr>
          <a:lstStyle/>
          <a:p>
            <a:pPr algn="l"/>
            <a:r>
              <a:rPr sz="1600" b="1">
                <a:solidFill>
                  <a:srgbClr val="2E4780"/>
                </a:solidFill>
                <a:latin typeface="Arial"/>
              </a:rPr>
              <a:t>6.1%</a:t>
            </a:r>
          </a:p>
        </p:txBody>
      </p:sp>
      <p:sp>
        <p:nvSpPr>
          <p:cNvPr id="10" name="summary-metric-note-1"/>
          <p:cNvSpPr txBox="1"/>
          <p:nvPr/>
        </p:nvSpPr>
        <p:spPr>
          <a:xfrm>
            <a:off x="7735824" y="2560320"/>
            <a:ext cx="1595628" cy="384048"/>
          </a:xfrm>
          <a:prstGeom prst="rect">
            <a:avLst/>
          </a:prstGeom>
          <a:noFill/>
        </p:spPr>
        <p:txBody>
          <a:bodyPr wrap="square" lIns="50800" tIns="12700" rIns="50800" bIns="12700" anchor="t">
            <a:spAutoFit/>
          </a:bodyPr>
          <a:lstStyle/>
          <a:p>
            <a:pPr algn="l"/>
            <a:r>
              <a:rPr sz="780" b="0">
                <a:solidFill>
                  <a:srgbClr val="6F768A"/>
                </a:solidFill>
                <a:latin typeface="Arial"/>
              </a:rPr>
              <a:t>Success across 16 composite-seen target tasks.</a:t>
            </a:r>
          </a:p>
        </p:txBody>
      </p:sp>
      <p:sp>
        <p:nvSpPr>
          <p:cNvPr id="11" name="metric-card-2"/>
          <p:cNvSpPr/>
          <p:nvPr/>
        </p:nvSpPr>
        <p:spPr>
          <a:xfrm>
            <a:off x="9642348" y="1536192"/>
            <a:ext cx="1851660" cy="1554480"/>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ummary-metric-label-2"/>
          <p:cNvSpPr txBox="1"/>
          <p:nvPr/>
        </p:nvSpPr>
        <p:spPr>
          <a:xfrm>
            <a:off x="9770364" y="1645919"/>
            <a:ext cx="1595628" cy="420624"/>
          </a:xfrm>
          <a:prstGeom prst="rect">
            <a:avLst/>
          </a:prstGeom>
          <a:noFill/>
        </p:spPr>
        <p:txBody>
          <a:bodyPr wrap="square" lIns="50800" tIns="12700" rIns="50800" bIns="12700" anchor="t">
            <a:spAutoFit/>
          </a:bodyPr>
          <a:lstStyle/>
          <a:p>
            <a:pPr algn="l"/>
            <a:r>
              <a:rPr sz="840" b="1">
                <a:solidFill>
                  <a:srgbClr val="6F768A"/>
                </a:solidFill>
                <a:latin typeface="Arial"/>
              </a:rPr>
              <a:t>RLDX-1 composite-seen success</a:t>
            </a:r>
          </a:p>
        </p:txBody>
      </p:sp>
      <p:sp>
        <p:nvSpPr>
          <p:cNvPr id="13" name="summary-metric-value-2"/>
          <p:cNvSpPr txBox="1"/>
          <p:nvPr/>
        </p:nvSpPr>
        <p:spPr>
          <a:xfrm>
            <a:off x="9770364" y="2103120"/>
            <a:ext cx="1595628" cy="384048"/>
          </a:xfrm>
          <a:prstGeom prst="rect">
            <a:avLst/>
          </a:prstGeom>
          <a:noFill/>
        </p:spPr>
        <p:txBody>
          <a:bodyPr wrap="square" lIns="50800" tIns="12700" rIns="50800" bIns="12700" anchor="t">
            <a:spAutoFit/>
          </a:bodyPr>
          <a:lstStyle/>
          <a:p>
            <a:pPr algn="l"/>
            <a:r>
              <a:rPr sz="1600" b="1">
                <a:solidFill>
                  <a:srgbClr val="2E4780"/>
                </a:solidFill>
                <a:latin typeface="Arial"/>
              </a:rPr>
              <a:t>27.9%</a:t>
            </a:r>
          </a:p>
        </p:txBody>
      </p:sp>
      <p:sp>
        <p:nvSpPr>
          <p:cNvPr id="14" name="summary-metric-note-2"/>
          <p:cNvSpPr txBox="1"/>
          <p:nvPr/>
        </p:nvSpPr>
        <p:spPr>
          <a:xfrm>
            <a:off x="9770364" y="2560320"/>
            <a:ext cx="1595628" cy="384048"/>
          </a:xfrm>
          <a:prstGeom prst="rect">
            <a:avLst/>
          </a:prstGeom>
          <a:noFill/>
        </p:spPr>
        <p:txBody>
          <a:bodyPr wrap="square" lIns="50800" tIns="12700" rIns="50800" bIns="12700" anchor="t">
            <a:spAutoFit/>
          </a:bodyPr>
          <a:lstStyle/>
          <a:p>
            <a:pPr algn="l"/>
            <a:r>
              <a:rPr sz="780" b="0">
                <a:solidFill>
                  <a:srgbClr val="6F768A"/>
                </a:solidFill>
                <a:latin typeface="Arial"/>
              </a:rPr>
              <a:t>Success across 16 composite-seen target tasks.</a:t>
            </a:r>
          </a:p>
        </p:txBody>
      </p:sp>
      <p:sp>
        <p:nvSpPr>
          <p:cNvPr id="15" name="metric-card-3"/>
          <p:cNvSpPr/>
          <p:nvPr/>
        </p:nvSpPr>
        <p:spPr>
          <a:xfrm>
            <a:off x="7607808" y="3273552"/>
            <a:ext cx="1851660" cy="1554480"/>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ummary-metric-label-3"/>
          <p:cNvSpPr txBox="1"/>
          <p:nvPr/>
        </p:nvSpPr>
        <p:spPr>
          <a:xfrm>
            <a:off x="7735824" y="3383280"/>
            <a:ext cx="1595628" cy="420624"/>
          </a:xfrm>
          <a:prstGeom prst="rect">
            <a:avLst/>
          </a:prstGeom>
          <a:noFill/>
        </p:spPr>
        <p:txBody>
          <a:bodyPr wrap="square" lIns="50800" tIns="12700" rIns="50800" bIns="12700" anchor="t">
            <a:spAutoFit/>
          </a:bodyPr>
          <a:lstStyle/>
          <a:p>
            <a:pPr algn="l"/>
            <a:r>
              <a:rPr sz="840" b="1">
                <a:solidFill>
                  <a:srgbClr val="6F768A"/>
                </a:solidFill>
                <a:latin typeface="Arial"/>
              </a:rPr>
              <a:t>Composite-seen tasks</a:t>
            </a:r>
          </a:p>
        </p:txBody>
      </p:sp>
      <p:sp>
        <p:nvSpPr>
          <p:cNvPr id="17" name="summary-metric-value-3"/>
          <p:cNvSpPr txBox="1"/>
          <p:nvPr/>
        </p:nvSpPr>
        <p:spPr>
          <a:xfrm>
            <a:off x="7735824" y="3840480"/>
            <a:ext cx="1595628" cy="384048"/>
          </a:xfrm>
          <a:prstGeom prst="rect">
            <a:avLst/>
          </a:prstGeom>
          <a:noFill/>
        </p:spPr>
        <p:txBody>
          <a:bodyPr wrap="square" lIns="50800" tIns="12700" rIns="50800" bIns="12700" anchor="t">
            <a:spAutoFit/>
          </a:bodyPr>
          <a:lstStyle/>
          <a:p>
            <a:pPr algn="l"/>
            <a:r>
              <a:rPr sz="1600" b="1">
                <a:solidFill>
                  <a:srgbClr val="2E4780"/>
                </a:solidFill>
                <a:latin typeface="Arial"/>
              </a:rPr>
              <a:t>16</a:t>
            </a:r>
          </a:p>
        </p:txBody>
      </p:sp>
      <p:sp>
        <p:nvSpPr>
          <p:cNvPr id="18" name="summary-metric-note-3"/>
          <p:cNvSpPr txBox="1"/>
          <p:nvPr/>
        </p:nvSpPr>
        <p:spPr>
          <a:xfrm>
            <a:off x="7735824" y="4297680"/>
            <a:ext cx="1595628" cy="384048"/>
          </a:xfrm>
          <a:prstGeom prst="rect">
            <a:avLst/>
          </a:prstGeom>
          <a:noFill/>
        </p:spPr>
        <p:txBody>
          <a:bodyPr wrap="square" lIns="50800" tIns="12700" rIns="50800" bIns="12700" anchor="t">
            <a:spAutoFit/>
          </a:bodyPr>
          <a:lstStyle/>
          <a:p>
            <a:pPr algn="l"/>
            <a:r>
              <a:rPr sz="700" b="0">
                <a:solidFill>
                  <a:srgbClr val="6F768A"/>
                </a:solidFill>
                <a:latin typeface="Arial"/>
              </a:rPr>
              <a:t>Number of target composite tasks seen during Human300 pretraining.</a:t>
            </a:r>
          </a:p>
        </p:txBody>
      </p:sp>
      <p:sp>
        <p:nvSpPr>
          <p:cNvPr id="19" name="metric-card-4"/>
          <p:cNvSpPr/>
          <p:nvPr/>
        </p:nvSpPr>
        <p:spPr>
          <a:xfrm>
            <a:off x="9642348" y="3273552"/>
            <a:ext cx="1851660" cy="1554480"/>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summary-metric-label-4"/>
          <p:cNvSpPr txBox="1"/>
          <p:nvPr/>
        </p:nvSpPr>
        <p:spPr>
          <a:xfrm>
            <a:off x="9770364" y="3383280"/>
            <a:ext cx="1595628" cy="420624"/>
          </a:xfrm>
          <a:prstGeom prst="rect">
            <a:avLst/>
          </a:prstGeom>
          <a:noFill/>
        </p:spPr>
        <p:txBody>
          <a:bodyPr wrap="square" lIns="50800" tIns="12700" rIns="50800" bIns="12700" anchor="t">
            <a:spAutoFit/>
          </a:bodyPr>
          <a:lstStyle/>
          <a:p>
            <a:pPr algn="l"/>
            <a:r>
              <a:rPr sz="840" b="1">
                <a:solidFill>
                  <a:srgbClr val="6F768A"/>
                </a:solidFill>
                <a:latin typeface="Arial"/>
              </a:rPr>
              <a:t>Composite-unseen tasks</a:t>
            </a:r>
          </a:p>
        </p:txBody>
      </p:sp>
      <p:sp>
        <p:nvSpPr>
          <p:cNvPr id="21" name="summary-metric-value-4"/>
          <p:cNvSpPr txBox="1"/>
          <p:nvPr/>
        </p:nvSpPr>
        <p:spPr>
          <a:xfrm>
            <a:off x="9770364" y="3840480"/>
            <a:ext cx="1595628" cy="384048"/>
          </a:xfrm>
          <a:prstGeom prst="rect">
            <a:avLst/>
          </a:prstGeom>
          <a:noFill/>
        </p:spPr>
        <p:txBody>
          <a:bodyPr wrap="square" lIns="50800" tIns="12700" rIns="50800" bIns="12700" anchor="t">
            <a:spAutoFit/>
          </a:bodyPr>
          <a:lstStyle/>
          <a:p>
            <a:pPr algn="l"/>
            <a:r>
              <a:rPr sz="1600" b="1">
                <a:solidFill>
                  <a:srgbClr val="2E4780"/>
                </a:solidFill>
                <a:latin typeface="Arial"/>
              </a:rPr>
              <a:t>16</a:t>
            </a:r>
          </a:p>
        </p:txBody>
      </p:sp>
      <p:sp>
        <p:nvSpPr>
          <p:cNvPr id="22" name="summary-metric-note-4"/>
          <p:cNvSpPr txBox="1"/>
          <p:nvPr/>
        </p:nvSpPr>
        <p:spPr>
          <a:xfrm>
            <a:off x="9770364" y="4297680"/>
            <a:ext cx="1595628" cy="384048"/>
          </a:xfrm>
          <a:prstGeom prst="rect">
            <a:avLst/>
          </a:prstGeom>
          <a:noFill/>
        </p:spPr>
        <p:txBody>
          <a:bodyPr wrap="square" lIns="50800" tIns="12700" rIns="50800" bIns="12700" anchor="t">
            <a:spAutoFit/>
          </a:bodyPr>
          <a:lstStyle/>
          <a:p>
            <a:pPr algn="l"/>
            <a:r>
              <a:rPr sz="780" b="0">
                <a:solidFill>
                  <a:srgbClr val="6F768A"/>
                </a:solidFill>
                <a:latin typeface="Arial"/>
              </a:rPr>
              <a:t>Number of held-out composite tasks evaluated zero-shot.</a:t>
            </a:r>
          </a:p>
        </p:txBody>
      </p:sp>
      <p:sp>
        <p:nvSpPr>
          <p:cNvPr id="23" name="source-note"/>
          <p:cNvSpPr txBox="1"/>
          <p:nvPr/>
        </p:nvSpPr>
        <p:spPr>
          <a:xfrm>
            <a:off x="566928" y="6419088"/>
            <a:ext cx="11064240" cy="310896"/>
          </a:xfrm>
          <a:prstGeom prst="rect">
            <a:avLst/>
          </a:prstGeom>
          <a:noFill/>
        </p:spPr>
        <p:txBody>
          <a:bodyPr wrap="square" lIns="50800" tIns="12700" rIns="50800" bIns="12700" anchor="t">
            <a:spAutoFit/>
          </a:bodyPr>
          <a:lstStyle/>
          <a:p>
            <a:pPr algn="l"/>
            <a:r>
              <a:rPr sz="750" b="0">
                <a:solidFill>
                  <a:srgbClr val="6F768A"/>
                </a:solidFill>
                <a:latin typeface="Arial"/>
              </a:rPr>
              <a:t>Source: RoboCasa365 official leaderboard · Table: robocasa.ai.leaderboard · Materializes the reviewed RoboCasa365 policy-by-split leaderboard values used in this report.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slide-title"/>
          <p:cNvSpPr txBox="1"/>
          <p:nvPr/>
        </p:nvSpPr>
        <p:spPr>
          <a:xfrm>
            <a:off x="566928" y="347472"/>
            <a:ext cx="10972800" cy="749808"/>
          </a:xfrm>
          <a:prstGeom prst="rect">
            <a:avLst/>
          </a:prstGeom>
          <a:noFill/>
        </p:spPr>
        <p:txBody>
          <a:bodyPr wrap="square" lIns="50800" tIns="12700" rIns="50800" bIns="12700" anchor="t">
            <a:spAutoFit/>
          </a:bodyPr>
          <a:lstStyle/>
          <a:p>
            <a:pPr algn="l"/>
            <a:r>
              <a:rPr sz="2000" b="1">
                <a:solidFill>
                  <a:srgbClr val="1F2430"/>
                </a:solidFill>
                <a:latin typeface="Arial"/>
              </a:rPr>
              <a:t>RoboCasa365 success rate by policy and evaluation split</a:t>
            </a:r>
          </a:p>
        </p:txBody>
      </p:sp>
      <p:sp>
        <p:nvSpPr>
          <p:cNvPr id="4" name="chart-frame"/>
          <p:cNvSpPr/>
          <p:nvPr/>
        </p:nvSpPr>
        <p:spPr>
          <a:xfrm>
            <a:off x="658368" y="1170432"/>
            <a:ext cx="7315200" cy="4617720"/>
          </a:xfrm>
          <a:prstGeom prst="roundRect">
            <a:avLst/>
          </a:prstGeom>
          <a:solidFill>
            <a:srgbClr val="FFFFFF"/>
          </a:solidFill>
          <a:ln w="9525">
            <a:solidFill>
              <a:srgbClr val="E6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chart-main" descr="chart_01.png"/>
          <p:cNvPicPr>
            <a:picLocks noChangeAspect="1"/>
          </p:cNvPicPr>
          <p:nvPr/>
        </p:nvPicPr>
        <p:blipFill>
          <a:blip r:embed="rId2"/>
          <a:stretch>
            <a:fillRect/>
          </a:stretch>
        </p:blipFill>
        <p:spPr>
          <a:xfrm>
            <a:off x="868680" y="1510189"/>
            <a:ext cx="6903720" cy="3883342"/>
          </a:xfrm>
          <a:prstGeom prst="rect">
            <a:avLst/>
          </a:prstGeom>
        </p:spPr>
      </p:pic>
      <p:sp>
        <p:nvSpPr>
          <p:cNvPr id="6" name="chart-callout-frame"/>
          <p:cNvSpPr/>
          <p:nvPr/>
        </p:nvSpPr>
        <p:spPr>
          <a:xfrm>
            <a:off x="8229600" y="1170432"/>
            <a:ext cx="3246120" cy="4617720"/>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hart-callout-heading"/>
          <p:cNvSpPr txBox="1"/>
          <p:nvPr/>
        </p:nvSpPr>
        <p:spPr>
          <a:xfrm>
            <a:off x="8458200" y="1417320"/>
            <a:ext cx="2788920" cy="320040"/>
          </a:xfrm>
          <a:prstGeom prst="rect">
            <a:avLst/>
          </a:prstGeom>
          <a:noFill/>
        </p:spPr>
        <p:txBody>
          <a:bodyPr wrap="square" lIns="50800" tIns="12700" rIns="50800" bIns="12700" anchor="t">
            <a:spAutoFit/>
          </a:bodyPr>
          <a:lstStyle/>
          <a:p>
            <a:pPr algn="l"/>
            <a:r>
              <a:rPr sz="1000" b="1">
                <a:solidFill>
                  <a:srgbClr val="6F768A"/>
                </a:solidFill>
                <a:latin typeface="Arial"/>
              </a:rPr>
              <a:t>Context</a:t>
            </a:r>
          </a:p>
        </p:txBody>
      </p:sp>
      <p:sp>
        <p:nvSpPr>
          <p:cNvPr id="8" name="chart-callout"/>
          <p:cNvSpPr txBox="1"/>
          <p:nvPr/>
        </p:nvSpPr>
        <p:spPr>
          <a:xfrm>
            <a:off x="8458200" y="1783080"/>
            <a:ext cx="2788920" cy="2011680"/>
          </a:xfrm>
          <a:prstGeom prst="rect">
            <a:avLst/>
          </a:prstGeom>
          <a:noFill/>
        </p:spPr>
        <p:txBody>
          <a:bodyPr wrap="square" lIns="50800" tIns="12700" rIns="50800" bIns="12700" anchor="t">
            <a:spAutoFit/>
          </a:bodyPr>
          <a:lstStyle/>
          <a:p>
            <a:pPr algn="l"/>
            <a:r>
              <a:rPr sz="1250" b="0">
                <a:solidFill>
                  <a:srgbClr val="1F2430"/>
                </a:solidFill>
                <a:latin typeface="Arial"/>
              </a:rPr>
              <a:t>Chart data preserved from the report section: A stronger policy is needed to expose meaningful late-stage failures.</a:t>
            </a:r>
          </a:p>
        </p:txBody>
      </p:sp>
      <p:sp>
        <p:nvSpPr>
          <p:cNvPr id="9" name="chart-source"/>
          <p:cNvSpPr txBox="1"/>
          <p:nvPr/>
        </p:nvSpPr>
        <p:spPr>
          <a:xfrm>
            <a:off x="8458200" y="4279392"/>
            <a:ext cx="2788920" cy="685800"/>
          </a:xfrm>
          <a:prstGeom prst="rect">
            <a:avLst/>
          </a:prstGeom>
          <a:noFill/>
        </p:spPr>
        <p:txBody>
          <a:bodyPr wrap="square" lIns="50800" tIns="12700" rIns="50800" bIns="12700" anchor="t">
            <a:spAutoFit/>
          </a:bodyPr>
          <a:lstStyle/>
          <a:p>
            <a:pPr algn="l"/>
            <a:r>
              <a:rPr sz="850" b="0">
                <a:solidFill>
                  <a:srgbClr val="6F768A"/>
                </a:solidFill>
                <a:latin typeface="Arial"/>
              </a:rPr>
              <a:t>RoboCasa365 success rate by policy and evaluation split</a:t>
            </a:r>
          </a:p>
        </p:txBody>
      </p:sp>
      <p:sp>
        <p:nvSpPr>
          <p:cNvPr id="10" name="source-note"/>
          <p:cNvSpPr txBox="1"/>
          <p:nvPr/>
        </p:nvSpPr>
        <p:spPr>
          <a:xfrm>
            <a:off x="566928" y="6419088"/>
            <a:ext cx="11064240" cy="310896"/>
          </a:xfrm>
          <a:prstGeom prst="rect">
            <a:avLst/>
          </a:prstGeom>
          <a:noFill/>
        </p:spPr>
        <p:txBody>
          <a:bodyPr wrap="square" lIns="50800" tIns="12700" rIns="50800" bIns="12700" anchor="t">
            <a:spAutoFit/>
          </a:bodyPr>
          <a:lstStyle/>
          <a:p>
            <a:pPr algn="l"/>
            <a:r>
              <a:rPr sz="750" b="0">
                <a:solidFill>
                  <a:srgbClr val="6F768A"/>
                </a:solidFill>
                <a:latin typeface="Arial"/>
              </a:rPr>
              <a:t>Source: RoboCasa365 official leaderboard · Table: robocasa.ai.leaderboard · Materializes the reviewed RoboCasa365 policy-by-split leaderboard values used in this report.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slide-title"/>
          <p:cNvSpPr txBox="1"/>
          <p:nvPr/>
        </p:nvSpPr>
        <p:spPr>
          <a:xfrm>
            <a:off x="566928" y="384048"/>
            <a:ext cx="10972800" cy="502920"/>
          </a:xfrm>
          <a:prstGeom prst="rect">
            <a:avLst/>
          </a:prstGeom>
          <a:noFill/>
        </p:spPr>
        <p:txBody>
          <a:bodyPr wrap="square" lIns="50800" tIns="12700" rIns="50800" bIns="12700" anchor="t">
            <a:spAutoFit/>
          </a:bodyPr>
          <a:lstStyle/>
          <a:p>
            <a:pPr algn="l"/>
            <a:r>
              <a:rPr sz="2200" b="1">
                <a:solidFill>
                  <a:srgbClr val="1F2430"/>
                </a:solidFill>
                <a:latin typeface="Arial"/>
              </a:rPr>
              <a:t>Policy options for failure-recovery research table</a:t>
            </a:r>
          </a:p>
        </p:txBody>
      </p:sp>
      <p:graphicFrame>
        <p:nvGraphicFramePr>
          <p:cNvPr id="4" name="table-main"/>
          <p:cNvGraphicFramePr>
            <a:graphicFrameLocks noGrp="1"/>
          </p:cNvGraphicFramePr>
          <p:nvPr/>
        </p:nvGraphicFramePr>
        <p:xfrm>
          <a:off x="566928" y="1234440"/>
          <a:ext cx="11064240" cy="305226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1546860">
                  <a:extLst>
                    <a:ext uri="{9D8B030D-6E8A-4147-A177-3AD203B41FA5}">
                      <a16:colId xmlns:a16="http://schemas.microsoft.com/office/drawing/2014/main" val="20001"/>
                    </a:ext>
                  </a:extLst>
                </a:gridCol>
                <a:gridCol w="1546860">
                  <a:extLst>
                    <a:ext uri="{9D8B030D-6E8A-4147-A177-3AD203B41FA5}">
                      <a16:colId xmlns:a16="http://schemas.microsoft.com/office/drawing/2014/main" val="20002"/>
                    </a:ext>
                  </a:extLst>
                </a:gridCol>
                <a:gridCol w="1546860">
                  <a:extLst>
                    <a:ext uri="{9D8B030D-6E8A-4147-A177-3AD203B41FA5}">
                      <a16:colId xmlns:a16="http://schemas.microsoft.com/office/drawing/2014/main" val="20003"/>
                    </a:ext>
                  </a:extLst>
                </a:gridCol>
                <a:gridCol w="1546860">
                  <a:extLst>
                    <a:ext uri="{9D8B030D-6E8A-4147-A177-3AD203B41FA5}">
                      <a16:colId xmlns:a16="http://schemas.microsoft.com/office/drawing/2014/main" val="20004"/>
                    </a:ext>
                  </a:extLst>
                </a:gridCol>
                <a:gridCol w="1546860">
                  <a:extLst>
                    <a:ext uri="{9D8B030D-6E8A-4147-A177-3AD203B41FA5}">
                      <a16:colId xmlns:a16="http://schemas.microsoft.com/office/drawing/2014/main" val="20005"/>
                    </a:ext>
                  </a:extLst>
                </a:gridCol>
                <a:gridCol w="1546860">
                  <a:extLst>
                    <a:ext uri="{9D8B030D-6E8A-4147-A177-3AD203B41FA5}">
                      <a16:colId xmlns:a16="http://schemas.microsoft.com/office/drawing/2014/main" val="20006"/>
                    </a:ext>
                  </a:extLst>
                </a:gridCol>
              </a:tblGrid>
              <a:tr h="475488">
                <a:tc>
                  <a:txBody>
                    <a:bodyPr/>
                    <a:lstStyle/>
                    <a:p>
                      <a:pPr algn="l"/>
                      <a:r>
                        <a:rPr sz="1019" b="1">
                          <a:solidFill>
                            <a:srgbClr val="1F2430"/>
                          </a:solidFill>
                        </a:rPr>
                        <a:t>Policy</a:t>
                      </a:r>
                    </a:p>
                  </a:txBody>
                  <a:tcPr marL="73152" marR="73152" marT="36576" marB="36576">
                    <a:solidFill>
                      <a:srgbClr val="CEDFFE"/>
                    </a:solidFill>
                  </a:tcPr>
                </a:tc>
                <a:tc>
                  <a:txBody>
                    <a:bodyPr/>
                    <a:lstStyle/>
                    <a:p>
                      <a:pPr algn="ctr"/>
                      <a:r>
                        <a:rPr sz="1019" b="1">
                          <a:solidFill>
                            <a:srgbClr val="1F2430"/>
                          </a:solidFill>
                        </a:rPr>
                        <a:t>Overall</a:t>
                      </a:r>
                    </a:p>
                  </a:txBody>
                  <a:tcPr marL="73152" marR="73152" marT="36576" marB="36576">
                    <a:solidFill>
                      <a:srgbClr val="CEDFFE"/>
                    </a:solidFill>
                  </a:tcPr>
                </a:tc>
                <a:tc>
                  <a:txBody>
                    <a:bodyPr/>
                    <a:lstStyle/>
                    <a:p>
                      <a:pPr algn="ctr"/>
                      <a:r>
                        <a:rPr sz="1019" b="1">
                          <a:solidFill>
                            <a:srgbClr val="1F2430"/>
                          </a:solidFill>
                        </a:rPr>
                        <a:t>Composite seen</a:t>
                      </a:r>
                    </a:p>
                  </a:txBody>
                  <a:tcPr marL="73152" marR="73152" marT="36576" marB="36576">
                    <a:solidFill>
                      <a:srgbClr val="CEDFFE"/>
                    </a:solidFill>
                  </a:tcPr>
                </a:tc>
                <a:tc>
                  <a:txBody>
                    <a:bodyPr/>
                    <a:lstStyle/>
                    <a:p>
                      <a:pPr algn="ctr"/>
                      <a:r>
                        <a:rPr sz="1019" b="1">
                          <a:solidFill>
                            <a:srgbClr val="1F2430"/>
                          </a:solidFill>
                        </a:rPr>
                        <a:t>Composite unseen</a:t>
                      </a:r>
                    </a:p>
                  </a:txBody>
                  <a:tcPr marL="73152" marR="73152" marT="36576" marB="36576">
                    <a:solidFill>
                      <a:srgbClr val="CEDFFE"/>
                    </a:solidFill>
                  </a:tcPr>
                </a:tc>
                <a:tc>
                  <a:txBody>
                    <a:bodyPr/>
                    <a:lstStyle/>
                    <a:p>
                      <a:pPr algn="ctr"/>
                      <a:r>
                        <a:rPr sz="1019" b="1">
                          <a:solidFill>
                            <a:srgbClr val="1F2430"/>
                          </a:solidFill>
                        </a:rPr>
                        <a:t>Availability</a:t>
                      </a:r>
                    </a:p>
                  </a:txBody>
                  <a:tcPr marL="73152" marR="73152" marT="36576" marB="36576">
                    <a:solidFill>
                      <a:srgbClr val="CEDFFE"/>
                    </a:solidFill>
                  </a:tcPr>
                </a:tc>
                <a:tc>
                  <a:txBody>
                    <a:bodyPr/>
                    <a:lstStyle/>
                    <a:p>
                      <a:pPr algn="ctr"/>
                      <a:r>
                        <a:rPr sz="1019" b="1">
                          <a:solidFill>
                            <a:srgbClr val="1F2430"/>
                          </a:solidFill>
                        </a:rPr>
                        <a:t>Fit for guidance research</a:t>
                      </a:r>
                    </a:p>
                  </a:txBody>
                  <a:tcPr marL="73152" marR="73152" marT="36576" marB="36576">
                    <a:solidFill>
                      <a:srgbClr val="CEDFFE"/>
                    </a:solidFill>
                  </a:tcPr>
                </a:tc>
                <a:tc>
                  <a:txBody>
                    <a:bodyPr/>
                    <a:lstStyle/>
                    <a:p>
                      <a:pPr algn="ctr"/>
                      <a:r>
                        <a:rPr sz="1019" b="1">
                          <a:solidFill>
                            <a:srgbClr val="1F2430"/>
                          </a:solidFill>
                        </a:rPr>
                        <a:t>Recommended role</a:t>
                      </a:r>
                    </a:p>
                  </a:txBody>
                  <a:tcPr marL="73152" marR="73152" marT="36576" marB="36576">
                    <a:solidFill>
                      <a:srgbClr val="CEDFFE"/>
                    </a:solidFill>
                  </a:tcPr>
                </a:tc>
                <a:extLst>
                  <a:ext uri="{0D108BD9-81ED-4DB2-BD59-A6C34878D82A}">
                    <a16:rowId xmlns:a16="http://schemas.microsoft.com/office/drawing/2014/main" val="10000"/>
                  </a:ext>
                </a:extLst>
              </a:tr>
              <a:tr h="462686">
                <a:tc>
                  <a:txBody>
                    <a:bodyPr/>
                    <a:lstStyle/>
                    <a:p>
                      <a:pPr algn="l"/>
                      <a:r>
                        <a:rPr sz="1180" b="1">
                          <a:solidFill>
                            <a:srgbClr val="1F2430"/>
                          </a:solidFill>
                        </a:rPr>
                        <a:t>Xiaomi-Robotics-1</a:t>
                      </a:r>
                    </a:p>
                  </a:txBody>
                  <a:tcPr marL="73152" marR="73152" marT="36576" marB="36576">
                    <a:solidFill>
                      <a:srgbClr val="FFFFFF"/>
                    </a:solidFill>
                  </a:tcPr>
                </a:tc>
                <a:tc>
                  <a:txBody>
                    <a:bodyPr/>
                    <a:lstStyle/>
                    <a:p>
                      <a:pPr algn="ctr"/>
                      <a:r>
                        <a:rPr sz="1140" b="0">
                          <a:solidFill>
                            <a:srgbClr val="1F2430"/>
                          </a:solidFill>
                        </a:rPr>
                        <a:t>57.4%</a:t>
                      </a:r>
                    </a:p>
                  </a:txBody>
                  <a:tcPr marL="73152" marR="73152" marT="36576" marB="36576">
                    <a:solidFill>
                      <a:srgbClr val="FFFFFF"/>
                    </a:solidFill>
                  </a:tcPr>
                </a:tc>
                <a:tc>
                  <a:txBody>
                    <a:bodyPr/>
                    <a:lstStyle/>
                    <a:p>
                      <a:pPr algn="ctr"/>
                      <a:r>
                        <a:rPr sz="1140" b="0">
                          <a:solidFill>
                            <a:srgbClr val="1F2430"/>
                          </a:solidFill>
                        </a:rPr>
                        <a:t>57.1%</a:t>
                      </a:r>
                    </a:p>
                  </a:txBody>
                  <a:tcPr marL="73152" marR="73152" marT="36576" marB="36576">
                    <a:solidFill>
                      <a:srgbClr val="FFFFFF"/>
                    </a:solidFill>
                  </a:tcPr>
                </a:tc>
                <a:tc>
                  <a:txBody>
                    <a:bodyPr/>
                    <a:lstStyle/>
                    <a:p>
                      <a:pPr algn="ctr"/>
                      <a:r>
                        <a:rPr sz="1140" b="0">
                          <a:solidFill>
                            <a:srgbClr val="1F2430"/>
                          </a:solidFill>
                        </a:rPr>
                        <a:t>32.1%</a:t>
                      </a:r>
                    </a:p>
                  </a:txBody>
                  <a:tcPr marL="73152" marR="73152" marT="36576" marB="36576">
                    <a:solidFill>
                      <a:srgbClr val="FFFFFF"/>
                    </a:solidFill>
                  </a:tcPr>
                </a:tc>
                <a:tc>
                  <a:txBody>
                    <a:bodyPr/>
                    <a:lstStyle/>
                    <a:p>
                      <a:pPr algn="ctr"/>
                      <a:r>
                        <a:rPr sz="1140" b="0">
                          <a:solidFill>
                            <a:srgbClr val="1F2430"/>
                          </a:solidFill>
                        </a:rPr>
                        <a:t>Closed; private evaluation</a:t>
                      </a:r>
                    </a:p>
                  </a:txBody>
                  <a:tcPr marL="73152" marR="73152" marT="36576" marB="36576">
                    <a:solidFill>
                      <a:srgbClr val="FFFFFF"/>
                    </a:solidFill>
                  </a:tcPr>
                </a:tc>
                <a:tc>
                  <a:txBody>
                    <a:bodyPr/>
                    <a:lstStyle/>
                    <a:p>
                      <a:pPr algn="ctr"/>
                      <a:r>
                        <a:rPr sz="1140" b="0">
                          <a:solidFill>
                            <a:srgbClr val="1F2430"/>
                          </a:solidFill>
                        </a:rPr>
                        <a:t>Not reproducible</a:t>
                      </a:r>
                    </a:p>
                  </a:txBody>
                  <a:tcPr marL="73152" marR="73152" marT="36576" marB="36576">
                    <a:solidFill>
                      <a:srgbClr val="FFFFFF"/>
                    </a:solidFill>
                  </a:tcPr>
                </a:tc>
                <a:tc>
                  <a:txBody>
                    <a:bodyPr/>
                    <a:lstStyle/>
                    <a:p>
                      <a:pPr algn="ctr"/>
                      <a:r>
                        <a:rPr sz="1140" b="0">
                          <a:solidFill>
                            <a:srgbClr val="1F2430"/>
                          </a:solidFill>
                        </a:rPr>
                        <a:t>Upper-bound context only</a:t>
                      </a:r>
                    </a:p>
                  </a:txBody>
                  <a:tcPr marL="73152" marR="73152" marT="36576" marB="36576">
                    <a:solidFill>
                      <a:srgbClr val="FFFFFF"/>
                    </a:solidFill>
                  </a:tcPr>
                </a:tc>
                <a:extLst>
                  <a:ext uri="{0D108BD9-81ED-4DB2-BD59-A6C34878D82A}">
                    <a16:rowId xmlns:a16="http://schemas.microsoft.com/office/drawing/2014/main" val="10001"/>
                  </a:ext>
                </a:extLst>
              </a:tr>
              <a:tr h="462686">
                <a:tc>
                  <a:txBody>
                    <a:bodyPr/>
                    <a:lstStyle/>
                    <a:p>
                      <a:pPr algn="l"/>
                      <a:r>
                        <a:rPr sz="1180" b="1">
                          <a:solidFill>
                            <a:srgbClr val="1F2430"/>
                          </a:solidFill>
                        </a:rPr>
                        <a:t>RLDX-1</a:t>
                      </a:r>
                    </a:p>
                  </a:txBody>
                  <a:tcPr marL="73152" marR="73152" marT="36576" marB="36576">
                    <a:solidFill>
                      <a:srgbClr val="FFFFFF"/>
                    </a:solidFill>
                  </a:tcPr>
                </a:tc>
                <a:tc>
                  <a:txBody>
                    <a:bodyPr/>
                    <a:lstStyle/>
                    <a:p>
                      <a:pPr algn="ctr"/>
                      <a:r>
                        <a:rPr sz="1140" b="0">
                          <a:solidFill>
                            <a:srgbClr val="1F2430"/>
                          </a:solidFill>
                        </a:rPr>
                        <a:t>36%</a:t>
                      </a:r>
                    </a:p>
                  </a:txBody>
                  <a:tcPr marL="73152" marR="73152" marT="36576" marB="36576">
                    <a:solidFill>
                      <a:srgbClr val="FFFFFF"/>
                    </a:solidFill>
                  </a:tcPr>
                </a:tc>
                <a:tc>
                  <a:txBody>
                    <a:bodyPr/>
                    <a:lstStyle/>
                    <a:p>
                      <a:pPr algn="ctr"/>
                      <a:r>
                        <a:rPr sz="1140" b="0">
                          <a:solidFill>
                            <a:srgbClr val="1F2430"/>
                          </a:solidFill>
                        </a:rPr>
                        <a:t>27.9%</a:t>
                      </a:r>
                    </a:p>
                  </a:txBody>
                  <a:tcPr marL="73152" marR="73152" marT="36576" marB="36576">
                    <a:solidFill>
                      <a:srgbClr val="FFFFFF"/>
                    </a:solidFill>
                  </a:tcPr>
                </a:tc>
                <a:tc>
                  <a:txBody>
                    <a:bodyPr/>
                    <a:lstStyle/>
                    <a:p>
                      <a:pPr algn="ctr"/>
                      <a:r>
                        <a:rPr sz="1140" b="0">
                          <a:solidFill>
                            <a:srgbClr val="1F2430"/>
                          </a:solidFill>
                        </a:rPr>
                        <a:t>8.5%</a:t>
                      </a:r>
                    </a:p>
                  </a:txBody>
                  <a:tcPr marL="73152" marR="73152" marT="36576" marB="36576">
                    <a:solidFill>
                      <a:srgbClr val="FFFFFF"/>
                    </a:solidFill>
                  </a:tcPr>
                </a:tc>
                <a:tc>
                  <a:txBody>
                    <a:bodyPr/>
                    <a:lstStyle/>
                    <a:p>
                      <a:pPr algn="ctr"/>
                      <a:r>
                        <a:rPr sz="1140" b="0">
                          <a:solidFill>
                            <a:srgbClr val="1F2430"/>
                          </a:solidFill>
                        </a:rPr>
                        <a:t>Open code and RoboCasa checkpoint</a:t>
                      </a:r>
                    </a:p>
                  </a:txBody>
                  <a:tcPr marL="73152" marR="73152" marT="36576" marB="36576">
                    <a:solidFill>
                      <a:srgbClr val="FFFFFF"/>
                    </a:solidFill>
                  </a:tcPr>
                </a:tc>
                <a:tc>
                  <a:txBody>
                    <a:bodyPr/>
                    <a:lstStyle/>
                    <a:p>
                      <a:pPr algn="ctr"/>
                      <a:r>
                        <a:rPr sz="1140" b="0">
                          <a:solidFill>
                            <a:srgbClr val="1F2430"/>
                          </a:solidFill>
                        </a:rPr>
                        <a:t>Flow-matching action generator</a:t>
                      </a:r>
                    </a:p>
                  </a:txBody>
                  <a:tcPr marL="73152" marR="73152" marT="36576" marB="36576">
                    <a:solidFill>
                      <a:srgbClr val="FFFFFF"/>
                    </a:solidFill>
                  </a:tcPr>
                </a:tc>
                <a:tc>
                  <a:txBody>
                    <a:bodyPr/>
                    <a:lstStyle/>
                    <a:p>
                      <a:pPr algn="ctr"/>
                      <a:r>
                        <a:rPr sz="1140" b="0">
                          <a:solidFill>
                            <a:srgbClr val="1F2430"/>
                          </a:solidFill>
                        </a:rPr>
                        <a:t>Recommended higher-progress primary policy</a:t>
                      </a:r>
                    </a:p>
                  </a:txBody>
                  <a:tcPr marL="73152" marR="73152" marT="36576" marB="36576">
                    <a:solidFill>
                      <a:srgbClr val="FFFFFF"/>
                    </a:solidFill>
                  </a:tcPr>
                </a:tc>
                <a:extLst>
                  <a:ext uri="{0D108BD9-81ED-4DB2-BD59-A6C34878D82A}">
                    <a16:rowId xmlns:a16="http://schemas.microsoft.com/office/drawing/2014/main" val="10002"/>
                  </a:ext>
                </a:extLst>
              </a:tr>
              <a:tr h="462686">
                <a:tc>
                  <a:txBody>
                    <a:bodyPr/>
                    <a:lstStyle/>
                    <a:p>
                      <a:pPr algn="l"/>
                      <a:r>
                        <a:rPr sz="1180" b="1">
                          <a:solidFill>
                            <a:srgbClr val="1F2430"/>
                          </a:solidFill>
                        </a:rPr>
                        <a:t>GR00T N1.5</a:t>
                      </a:r>
                    </a:p>
                  </a:txBody>
                  <a:tcPr marL="73152" marR="73152" marT="36576" marB="36576">
                    <a:solidFill>
                      <a:srgbClr val="FFFFFF"/>
                    </a:solidFill>
                  </a:tcPr>
                </a:tc>
                <a:tc>
                  <a:txBody>
                    <a:bodyPr/>
                    <a:lstStyle/>
                    <a:p>
                      <a:pPr algn="ctr"/>
                      <a:r>
                        <a:rPr sz="1140" b="0">
                          <a:solidFill>
                            <a:srgbClr val="1F2430"/>
                          </a:solidFill>
                        </a:rPr>
                        <a:t>23.9%</a:t>
                      </a:r>
                    </a:p>
                  </a:txBody>
                  <a:tcPr marL="73152" marR="73152" marT="36576" marB="36576">
                    <a:solidFill>
                      <a:srgbClr val="FFFFFF"/>
                    </a:solidFill>
                  </a:tcPr>
                </a:tc>
                <a:tc>
                  <a:txBody>
                    <a:bodyPr/>
                    <a:lstStyle/>
                    <a:p>
                      <a:pPr algn="ctr"/>
                      <a:r>
                        <a:rPr sz="1140" b="0">
                          <a:solidFill>
                            <a:srgbClr val="1F2430"/>
                          </a:solidFill>
                        </a:rPr>
                        <a:t>14.8%</a:t>
                      </a:r>
                    </a:p>
                  </a:txBody>
                  <a:tcPr marL="73152" marR="73152" marT="36576" marB="36576">
                    <a:solidFill>
                      <a:srgbClr val="FFFFFF"/>
                    </a:solidFill>
                  </a:tcPr>
                </a:tc>
                <a:tc>
                  <a:txBody>
                    <a:bodyPr/>
                    <a:lstStyle/>
                    <a:p>
                      <a:pPr algn="ctr"/>
                      <a:r>
                        <a:rPr sz="1140" b="0">
                          <a:solidFill>
                            <a:srgbClr val="1F2430"/>
                          </a:solidFill>
                        </a:rPr>
                        <a:t>2.7%</a:t>
                      </a:r>
                    </a:p>
                  </a:txBody>
                  <a:tcPr marL="73152" marR="73152" marT="36576" marB="36576">
                    <a:solidFill>
                      <a:srgbClr val="FFFFFF"/>
                    </a:solidFill>
                  </a:tcPr>
                </a:tc>
                <a:tc>
                  <a:txBody>
                    <a:bodyPr/>
                    <a:lstStyle/>
                    <a:p>
                      <a:pPr algn="ctr"/>
                      <a:r>
                        <a:rPr sz="1140" b="0">
                          <a:solidFill>
                            <a:srgbClr val="1F2430"/>
                          </a:solidFill>
                        </a:rPr>
                        <a:t>Open; official RoboCasa support</a:t>
                      </a:r>
                    </a:p>
                  </a:txBody>
                  <a:tcPr marL="73152" marR="73152" marT="36576" marB="36576">
                    <a:solidFill>
                      <a:srgbClr val="FFFFFF"/>
                    </a:solidFill>
                  </a:tcPr>
                </a:tc>
                <a:tc>
                  <a:txBody>
                    <a:bodyPr/>
                    <a:lstStyle/>
                    <a:p>
                      <a:pPr algn="ctr"/>
                      <a:r>
                        <a:rPr sz="1140" b="0">
                          <a:solidFill>
                            <a:srgbClr val="1F2430"/>
                          </a:solidFill>
                        </a:rPr>
                        <a:t>Higher integration/training cost</a:t>
                      </a:r>
                    </a:p>
                  </a:txBody>
                  <a:tcPr marL="73152" marR="73152" marT="36576" marB="36576">
                    <a:solidFill>
                      <a:srgbClr val="FFFFFF"/>
                    </a:solidFill>
                  </a:tcPr>
                </a:tc>
                <a:tc>
                  <a:txBody>
                    <a:bodyPr/>
                    <a:lstStyle/>
                    <a:p>
                      <a:pPr algn="ctr"/>
                      <a:r>
                        <a:rPr sz="1140" b="0">
                          <a:solidFill>
                            <a:srgbClr val="1F2430"/>
                          </a:solidFill>
                        </a:rPr>
                        <a:t>Secondary alternative</a:t>
                      </a:r>
                    </a:p>
                  </a:txBody>
                  <a:tcPr marL="73152" marR="73152" marT="36576" marB="36576">
                    <a:solidFill>
                      <a:srgbClr val="FFFFFF"/>
                    </a:solidFill>
                  </a:tcPr>
                </a:tc>
                <a:extLst>
                  <a:ext uri="{0D108BD9-81ED-4DB2-BD59-A6C34878D82A}">
                    <a16:rowId xmlns:a16="http://schemas.microsoft.com/office/drawing/2014/main" val="10003"/>
                  </a:ext>
                </a:extLst>
              </a:tr>
              <a:tr h="462686">
                <a:tc>
                  <a:txBody>
                    <a:bodyPr/>
                    <a:lstStyle/>
                    <a:p>
                      <a:pPr algn="l"/>
                      <a:r>
                        <a:rPr sz="1180" b="1">
                          <a:solidFill>
                            <a:srgbClr val="1F2430"/>
                          </a:solidFill>
                        </a:rPr>
                        <a:t>pi0.5</a:t>
                      </a:r>
                    </a:p>
                  </a:txBody>
                  <a:tcPr marL="73152" marR="73152" marT="36576" marB="36576">
                    <a:solidFill>
                      <a:srgbClr val="FFFFFF"/>
                    </a:solidFill>
                  </a:tcPr>
                </a:tc>
                <a:tc>
                  <a:txBody>
                    <a:bodyPr/>
                    <a:lstStyle/>
                    <a:p>
                      <a:pPr algn="ctr"/>
                      <a:r>
                        <a:rPr sz="1140" b="0">
                          <a:solidFill>
                            <a:srgbClr val="1F2430"/>
                          </a:solidFill>
                        </a:rPr>
                        <a:t>16.9%</a:t>
                      </a:r>
                    </a:p>
                  </a:txBody>
                  <a:tcPr marL="73152" marR="73152" marT="36576" marB="36576">
                    <a:solidFill>
                      <a:srgbClr val="FFFFFF"/>
                    </a:solidFill>
                  </a:tcPr>
                </a:tc>
                <a:tc>
                  <a:txBody>
                    <a:bodyPr/>
                    <a:lstStyle/>
                    <a:p>
                      <a:pPr algn="ctr"/>
                      <a:r>
                        <a:rPr sz="1140" b="0">
                          <a:solidFill>
                            <a:srgbClr val="1F2430"/>
                          </a:solidFill>
                        </a:rPr>
                        <a:t>7.1%</a:t>
                      </a:r>
                    </a:p>
                  </a:txBody>
                  <a:tcPr marL="73152" marR="73152" marT="36576" marB="36576">
                    <a:solidFill>
                      <a:srgbClr val="FFFFFF"/>
                    </a:solidFill>
                  </a:tcPr>
                </a:tc>
                <a:tc>
                  <a:txBody>
                    <a:bodyPr/>
                    <a:lstStyle/>
                    <a:p>
                      <a:pPr algn="ctr"/>
                      <a:r>
                        <a:rPr sz="1140" b="0">
                          <a:solidFill>
                            <a:srgbClr val="1F2430"/>
                          </a:solidFill>
                        </a:rPr>
                        <a:t>1.2%</a:t>
                      </a:r>
                    </a:p>
                  </a:txBody>
                  <a:tcPr marL="73152" marR="73152" marT="36576" marB="36576">
                    <a:solidFill>
                      <a:srgbClr val="FFFFFF"/>
                    </a:solidFill>
                  </a:tcPr>
                </a:tc>
                <a:tc>
                  <a:txBody>
                    <a:bodyPr/>
                    <a:lstStyle/>
                    <a:p>
                      <a:pPr algn="ctr"/>
                      <a:r>
                        <a:rPr sz="1140" b="0">
                          <a:solidFill>
                            <a:srgbClr val="1F2430"/>
                          </a:solidFill>
                        </a:rPr>
                        <a:t>Open</a:t>
                      </a:r>
                    </a:p>
                  </a:txBody>
                  <a:tcPr marL="73152" marR="73152" marT="36576" marB="36576">
                    <a:solidFill>
                      <a:srgbClr val="FFFFFF"/>
                    </a:solidFill>
                  </a:tcPr>
                </a:tc>
                <a:tc>
                  <a:txBody>
                    <a:bodyPr/>
                    <a:lstStyle/>
                    <a:p>
                      <a:pPr algn="ctr"/>
                      <a:r>
                        <a:rPr sz="1140" b="0">
                          <a:solidFill>
                            <a:srgbClr val="1F2430"/>
                          </a:solidFill>
                        </a:rPr>
                        <a:t>Native flow-policy fit</a:t>
                      </a:r>
                    </a:p>
                  </a:txBody>
                  <a:tcPr marL="73152" marR="73152" marT="36576" marB="36576">
                    <a:solidFill>
                      <a:srgbClr val="FFFFFF"/>
                    </a:solidFill>
                  </a:tcPr>
                </a:tc>
                <a:tc>
                  <a:txBody>
                    <a:bodyPr/>
                    <a:lstStyle/>
                    <a:p>
                      <a:pPr algn="ctr"/>
                      <a:r>
                        <a:rPr sz="1140" b="0">
                          <a:solidFill>
                            <a:srgbClr val="1F2430"/>
                          </a:solidFill>
                        </a:rPr>
                        <a:t>Do not prioritize; progress gain is small</a:t>
                      </a:r>
                    </a:p>
                  </a:txBody>
                  <a:tcPr marL="73152" marR="73152" marT="36576" marB="36576">
                    <a:solidFill>
                      <a:srgbClr val="FFFFFF"/>
                    </a:solidFill>
                  </a:tcPr>
                </a:tc>
                <a:extLst>
                  <a:ext uri="{0D108BD9-81ED-4DB2-BD59-A6C34878D82A}">
                    <a16:rowId xmlns:a16="http://schemas.microsoft.com/office/drawing/2014/main" val="10004"/>
                  </a:ext>
                </a:extLst>
              </a:tr>
              <a:tr h="462686">
                <a:tc>
                  <a:txBody>
                    <a:bodyPr/>
                    <a:lstStyle/>
                    <a:p>
                      <a:pPr algn="l"/>
                      <a:r>
                        <a:rPr sz="1180" b="1">
                          <a:solidFill>
                            <a:srgbClr val="1F2430"/>
                          </a:solidFill>
                        </a:rPr>
                        <a:t>pi0</a:t>
                      </a:r>
                    </a:p>
                  </a:txBody>
                  <a:tcPr marL="73152" marR="73152" marT="36576" marB="36576">
                    <a:solidFill>
                      <a:srgbClr val="FFFFFF"/>
                    </a:solidFill>
                  </a:tcPr>
                </a:tc>
                <a:tc>
                  <a:txBody>
                    <a:bodyPr/>
                    <a:lstStyle/>
                    <a:p>
                      <a:pPr algn="ctr"/>
                      <a:r>
                        <a:rPr sz="1140" b="0">
                          <a:solidFill>
                            <a:srgbClr val="1F2430"/>
                          </a:solidFill>
                        </a:rPr>
                        <a:t>14.8%</a:t>
                      </a:r>
                    </a:p>
                  </a:txBody>
                  <a:tcPr marL="73152" marR="73152" marT="36576" marB="36576">
                    <a:solidFill>
                      <a:srgbClr val="FFFFFF"/>
                    </a:solidFill>
                  </a:tcPr>
                </a:tc>
                <a:tc>
                  <a:txBody>
                    <a:bodyPr/>
                    <a:lstStyle/>
                    <a:p>
                      <a:pPr algn="ctr"/>
                      <a:r>
                        <a:rPr sz="1140" b="0">
                          <a:solidFill>
                            <a:srgbClr val="1F2430"/>
                          </a:solidFill>
                        </a:rPr>
                        <a:t>6.1%</a:t>
                      </a:r>
                    </a:p>
                  </a:txBody>
                  <a:tcPr marL="73152" marR="73152" marT="36576" marB="36576">
                    <a:solidFill>
                      <a:srgbClr val="FFFFFF"/>
                    </a:solidFill>
                  </a:tcPr>
                </a:tc>
                <a:tc>
                  <a:txBody>
                    <a:bodyPr/>
                    <a:lstStyle/>
                    <a:p>
                      <a:pPr algn="ctr"/>
                      <a:r>
                        <a:rPr sz="1140" b="0">
                          <a:solidFill>
                            <a:srgbClr val="1F2430"/>
                          </a:solidFill>
                        </a:rPr>
                        <a:t>1.1%</a:t>
                      </a:r>
                    </a:p>
                  </a:txBody>
                  <a:tcPr marL="73152" marR="73152" marT="36576" marB="36576">
                    <a:solidFill>
                      <a:srgbClr val="FFFFFF"/>
                    </a:solidFill>
                  </a:tcPr>
                </a:tc>
                <a:tc>
                  <a:txBody>
                    <a:bodyPr/>
                    <a:lstStyle/>
                    <a:p>
                      <a:pPr algn="ctr"/>
                      <a:r>
                        <a:rPr sz="1140" b="0">
                          <a:solidFill>
                            <a:srgbClr val="1F2430"/>
                          </a:solidFill>
                        </a:rPr>
                        <a:t>Open; current project baseline</a:t>
                      </a:r>
                    </a:p>
                  </a:txBody>
                  <a:tcPr marL="73152" marR="73152" marT="36576" marB="36576">
                    <a:solidFill>
                      <a:srgbClr val="FFFFFF"/>
                    </a:solidFill>
                  </a:tcPr>
                </a:tc>
                <a:tc>
                  <a:txBody>
                    <a:bodyPr/>
                    <a:lstStyle/>
                    <a:p>
                      <a:pPr algn="ctr"/>
                      <a:r>
                        <a:rPr sz="1140" b="0">
                          <a:solidFill>
                            <a:srgbClr val="1F2430"/>
                          </a:solidFill>
                        </a:rPr>
                        <a:t>Native flow-policy fit</a:t>
                      </a:r>
                    </a:p>
                  </a:txBody>
                  <a:tcPr marL="73152" marR="73152" marT="36576" marB="36576">
                    <a:solidFill>
                      <a:srgbClr val="FFFFFF"/>
                    </a:solidFill>
                  </a:tcPr>
                </a:tc>
                <a:tc>
                  <a:txBody>
                    <a:bodyPr/>
                    <a:lstStyle/>
                    <a:p>
                      <a:pPr algn="ctr"/>
                      <a:r>
                        <a:rPr sz="1140" b="0">
                          <a:solidFill>
                            <a:srgbClr val="1F2430"/>
                          </a:solidFill>
                        </a:rPr>
                        <a:t>Weak-policy baseline and existing natural-failure dataset</a:t>
                      </a:r>
                    </a:p>
                  </a:txBody>
                  <a:tcPr marL="73152" marR="73152" marT="36576" marB="36576">
                    <a:solidFill>
                      <a:srgbClr val="FFFFFF"/>
                    </a:solidFill>
                  </a:tcPr>
                </a:tc>
                <a:extLst>
                  <a:ext uri="{0D108BD9-81ED-4DB2-BD59-A6C34878D82A}">
                    <a16:rowId xmlns:a16="http://schemas.microsoft.com/office/drawing/2014/main" val="10005"/>
                  </a:ext>
                </a:extLst>
              </a:tr>
            </a:tbl>
          </a:graphicData>
        </a:graphic>
      </p:graphicFrame>
      <p:sp>
        <p:nvSpPr>
          <p:cNvPr id="5" name="table-note"/>
          <p:cNvSpPr txBox="1"/>
          <p:nvPr/>
        </p:nvSpPr>
        <p:spPr>
          <a:xfrm>
            <a:off x="713232" y="4315968"/>
            <a:ext cx="10698480" cy="502920"/>
          </a:xfrm>
          <a:prstGeom prst="rect">
            <a:avLst/>
          </a:prstGeom>
          <a:noFill/>
        </p:spPr>
        <p:txBody>
          <a:bodyPr wrap="square" lIns="50800" tIns="12700" rIns="50800" bIns="12700" anchor="t">
            <a:spAutoFit/>
          </a:bodyPr>
          <a:lstStyle/>
          <a:p>
            <a:pPr algn="l"/>
            <a:r>
              <a:rPr sz="1150" b="0">
                <a:solidFill>
                  <a:srgbClr val="6F768A"/>
                </a:solidFill>
                <a:latin typeface="Arial"/>
              </a:rPr>
              <a:t>Source table extracted from the report.</a:t>
            </a:r>
          </a:p>
        </p:txBody>
      </p:sp>
      <p:sp>
        <p:nvSpPr>
          <p:cNvPr id="6" name="source-note"/>
          <p:cNvSpPr txBox="1"/>
          <p:nvPr/>
        </p:nvSpPr>
        <p:spPr>
          <a:xfrm>
            <a:off x="566928" y="6419088"/>
            <a:ext cx="11064240" cy="310896"/>
          </a:xfrm>
          <a:prstGeom prst="rect">
            <a:avLst/>
          </a:prstGeom>
          <a:noFill/>
        </p:spPr>
        <p:txBody>
          <a:bodyPr wrap="square" lIns="50800" tIns="12700" rIns="50800" bIns="12700" anchor="t">
            <a:spAutoFit/>
          </a:bodyPr>
          <a:lstStyle/>
          <a:p>
            <a:pPr algn="l"/>
            <a:r>
              <a:rPr sz="750" b="0">
                <a:solidFill>
                  <a:srgbClr val="6F768A"/>
                </a:solidFill>
                <a:latin typeface="Arial"/>
              </a:rPr>
              <a:t>Source: Policy benchmark and implementation evidence · Tables: robocasa.ai.leaderboard, reviewed_policy_implementations.availability · Materializes the reviewed policy decision table from the official leaderboard and implementation evidence.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slide-title"/>
          <p:cNvSpPr txBox="1"/>
          <p:nvPr/>
        </p:nvSpPr>
        <p:spPr>
          <a:xfrm>
            <a:off x="566928" y="384048"/>
            <a:ext cx="10972800" cy="502920"/>
          </a:xfrm>
          <a:prstGeom prst="rect">
            <a:avLst/>
          </a:prstGeom>
          <a:noFill/>
        </p:spPr>
        <p:txBody>
          <a:bodyPr wrap="square" lIns="50800" tIns="12700" rIns="50800" bIns="12700" anchor="t">
            <a:spAutoFit/>
          </a:bodyPr>
          <a:lstStyle/>
          <a:p>
            <a:pPr algn="l"/>
            <a:r>
              <a:rPr sz="2200" b="1">
                <a:solidFill>
                  <a:srgbClr val="1F2430"/>
                </a:solidFill>
                <a:latin typeface="Arial"/>
              </a:rPr>
              <a:t>Failure and recovery evidence matrix table</a:t>
            </a:r>
          </a:p>
        </p:txBody>
      </p:sp>
      <p:graphicFrame>
        <p:nvGraphicFramePr>
          <p:cNvPr id="4" name="table-main"/>
          <p:cNvGraphicFramePr>
            <a:graphicFrameLocks noGrp="1"/>
          </p:cNvGraphicFramePr>
          <p:nvPr>
            <p:extLst>
              <p:ext uri="{D42A27DB-BD31-4B8C-83A1-F6EECF244321}">
                <p14:modId xmlns:p14="http://schemas.microsoft.com/office/powerpoint/2010/main" val="3684773270"/>
              </p:ext>
            </p:extLst>
          </p:nvPr>
        </p:nvGraphicFramePr>
        <p:xfrm>
          <a:off x="479316" y="1271016"/>
          <a:ext cx="11248394" cy="3875144"/>
        </p:xfrm>
        <a:graphic>
          <a:graphicData uri="http://schemas.openxmlformats.org/drawingml/2006/table">
            <a:tbl>
              <a:tblPr firstRow="1" bandRow="1">
                <a:tableStyleId>{5C22544A-7EE6-4342-B048-85BDC9FD1C3A}</a:tableStyleId>
              </a:tblPr>
              <a:tblGrid>
                <a:gridCol w="1812758">
                  <a:extLst>
                    <a:ext uri="{9D8B030D-6E8A-4147-A177-3AD203B41FA5}">
                      <a16:colId xmlns:a16="http://schemas.microsoft.com/office/drawing/2014/main" val="20000"/>
                    </a:ext>
                  </a:extLst>
                </a:gridCol>
                <a:gridCol w="2358909">
                  <a:extLst>
                    <a:ext uri="{9D8B030D-6E8A-4147-A177-3AD203B41FA5}">
                      <a16:colId xmlns:a16="http://schemas.microsoft.com/office/drawing/2014/main" val="20001"/>
                    </a:ext>
                  </a:extLst>
                </a:gridCol>
                <a:gridCol w="2358909">
                  <a:extLst>
                    <a:ext uri="{9D8B030D-6E8A-4147-A177-3AD203B41FA5}">
                      <a16:colId xmlns:a16="http://schemas.microsoft.com/office/drawing/2014/main" val="20002"/>
                    </a:ext>
                  </a:extLst>
                </a:gridCol>
                <a:gridCol w="2358909">
                  <a:extLst>
                    <a:ext uri="{9D8B030D-6E8A-4147-A177-3AD203B41FA5}">
                      <a16:colId xmlns:a16="http://schemas.microsoft.com/office/drawing/2014/main" val="20003"/>
                    </a:ext>
                  </a:extLst>
                </a:gridCol>
                <a:gridCol w="2358909">
                  <a:extLst>
                    <a:ext uri="{9D8B030D-6E8A-4147-A177-3AD203B41FA5}">
                      <a16:colId xmlns:a16="http://schemas.microsoft.com/office/drawing/2014/main" val="20004"/>
                    </a:ext>
                  </a:extLst>
                </a:gridCol>
              </a:tblGrid>
              <a:tr h="620023">
                <a:tc>
                  <a:txBody>
                    <a:bodyPr/>
                    <a:lstStyle/>
                    <a:p>
                      <a:pPr algn="l"/>
                      <a:r>
                        <a:rPr sz="1100" b="1" dirty="0">
                          <a:solidFill>
                            <a:srgbClr val="1F2430"/>
                          </a:solidFill>
                        </a:rPr>
                        <a:t>Method</a:t>
                      </a:r>
                    </a:p>
                  </a:txBody>
                  <a:tcPr marL="73152" marR="73152" marT="36576" marB="36576">
                    <a:solidFill>
                      <a:srgbClr val="CEDFFE"/>
                    </a:solidFill>
                  </a:tcPr>
                </a:tc>
                <a:tc>
                  <a:txBody>
                    <a:bodyPr/>
                    <a:lstStyle/>
                    <a:p>
                      <a:pPr algn="ctr"/>
                      <a:r>
                        <a:rPr sz="1100" b="1">
                          <a:solidFill>
                            <a:srgbClr val="1F2430"/>
                          </a:solidFill>
                        </a:rPr>
                        <a:t>Failure source</a:t>
                      </a:r>
                    </a:p>
                  </a:txBody>
                  <a:tcPr marL="73152" marR="73152" marT="36576" marB="36576">
                    <a:solidFill>
                      <a:srgbClr val="CEDFFE"/>
                    </a:solidFill>
                  </a:tcPr>
                </a:tc>
                <a:tc>
                  <a:txBody>
                    <a:bodyPr/>
                    <a:lstStyle/>
                    <a:p>
                      <a:pPr algn="ctr"/>
                      <a:r>
                        <a:rPr sz="1100" b="1">
                          <a:solidFill>
                            <a:srgbClr val="1F2430"/>
                          </a:solidFill>
                        </a:rPr>
                        <a:t>Corrective signal</a:t>
                      </a:r>
                    </a:p>
                  </a:txBody>
                  <a:tcPr marL="73152" marR="73152" marT="36576" marB="36576">
                    <a:solidFill>
                      <a:srgbClr val="CEDFFE"/>
                    </a:solidFill>
                  </a:tcPr>
                </a:tc>
                <a:tc>
                  <a:txBody>
                    <a:bodyPr/>
                    <a:lstStyle/>
                    <a:p>
                      <a:pPr algn="ctr"/>
                      <a:r>
                        <a:rPr sz="1100" b="1">
                          <a:solidFill>
                            <a:srgbClr val="1F2430"/>
                          </a:solidFill>
                        </a:rPr>
                        <a:t>Monitoring</a:t>
                      </a:r>
                    </a:p>
                  </a:txBody>
                  <a:tcPr marL="73152" marR="73152" marT="36576" marB="36576">
                    <a:solidFill>
                      <a:srgbClr val="CEDFFE"/>
                    </a:solidFill>
                  </a:tcPr>
                </a:tc>
                <a:tc>
                  <a:txBody>
                    <a:bodyPr/>
                    <a:lstStyle/>
                    <a:p>
                      <a:pPr algn="ctr"/>
                      <a:r>
                        <a:rPr sz="1100" b="1">
                          <a:solidFill>
                            <a:srgbClr val="1F2430"/>
                          </a:solidFill>
                        </a:rPr>
                        <a:t>Implication for this project</a:t>
                      </a:r>
                    </a:p>
                  </a:txBody>
                  <a:tcPr marL="73152" marR="73152" marT="36576" marB="36576">
                    <a:solidFill>
                      <a:srgbClr val="CEDFFE"/>
                    </a:solidFill>
                  </a:tcPr>
                </a:tc>
                <a:extLst>
                  <a:ext uri="{0D108BD9-81ED-4DB2-BD59-A6C34878D82A}">
                    <a16:rowId xmlns:a16="http://schemas.microsoft.com/office/drawing/2014/main" val="10000"/>
                  </a:ext>
                </a:extLst>
              </a:tr>
              <a:tr h="548482">
                <a:tc>
                  <a:txBody>
                    <a:bodyPr/>
                    <a:lstStyle/>
                    <a:p>
                      <a:pPr algn="l"/>
                      <a:r>
                        <a:rPr sz="1400" b="1">
                          <a:solidFill>
                            <a:srgbClr val="1F2430"/>
                          </a:solidFill>
                        </a:rPr>
                        <a:t>AFIL</a:t>
                      </a:r>
                    </a:p>
                  </a:txBody>
                  <a:tcPr marL="73152" marR="73152" marT="36576" marB="36576">
                    <a:solidFill>
                      <a:srgbClr val="FFFFFF"/>
                    </a:solidFill>
                  </a:tcPr>
                </a:tc>
                <a:tc>
                  <a:txBody>
                    <a:bodyPr/>
                    <a:lstStyle/>
                    <a:p>
                      <a:pPr algn="ctr"/>
                      <a:r>
                        <a:rPr sz="1400" b="0">
                          <a:solidFill>
                            <a:srgbClr val="1F2430"/>
                          </a:solidFill>
                        </a:rPr>
                        <a:t>Natural on-policy VLA failures</a:t>
                      </a:r>
                    </a:p>
                  </a:txBody>
                  <a:tcPr marL="73152" marR="73152" marT="36576" marB="36576">
                    <a:solidFill>
                      <a:srgbClr val="FFFFFF"/>
                    </a:solidFill>
                  </a:tcPr>
                </a:tc>
                <a:tc>
                  <a:txBody>
                    <a:bodyPr/>
                    <a:lstStyle/>
                    <a:p>
                      <a:pPr algn="ctr"/>
                      <a:r>
                        <a:rPr sz="1400" b="0">
                          <a:solidFill>
                            <a:srgbClr val="1F2430"/>
                          </a:solidFill>
                        </a:rPr>
                        <a:t>Success/failure generators with negative guidance</a:t>
                      </a:r>
                    </a:p>
                  </a:txBody>
                  <a:tcPr marL="73152" marR="73152" marT="36576" marB="36576">
                    <a:solidFill>
                      <a:srgbClr val="FFFFFF"/>
                    </a:solidFill>
                  </a:tcPr>
                </a:tc>
                <a:tc>
                  <a:txBody>
                    <a:bodyPr/>
                    <a:lstStyle/>
                    <a:p>
                      <a:pPr algn="ctr"/>
                      <a:r>
                        <a:rPr sz="1400" b="0">
                          <a:solidFill>
                            <a:srgbClr val="1F2430"/>
                          </a:solidFill>
                        </a:rPr>
                        <a:t>Adaptive sampling guidance</a:t>
                      </a:r>
                    </a:p>
                  </a:txBody>
                  <a:tcPr marL="73152" marR="73152" marT="36576" marB="36576">
                    <a:solidFill>
                      <a:srgbClr val="FFFFFF"/>
                    </a:solidFill>
                  </a:tcPr>
                </a:tc>
                <a:tc>
                  <a:txBody>
                    <a:bodyPr/>
                    <a:lstStyle/>
                    <a:p>
                      <a:pPr algn="ctr"/>
                      <a:r>
                        <a:rPr sz="1400" b="0">
                          <a:solidFill>
                            <a:srgbClr val="1F2430"/>
                          </a:solidFill>
                        </a:rPr>
                        <a:t>Closest direct flow-guidance precedent</a:t>
                      </a:r>
                    </a:p>
                  </a:txBody>
                  <a:tcPr marL="73152" marR="73152" marT="36576" marB="36576">
                    <a:solidFill>
                      <a:srgbClr val="FFFFFF"/>
                    </a:solidFill>
                  </a:tcPr>
                </a:tc>
                <a:extLst>
                  <a:ext uri="{0D108BD9-81ED-4DB2-BD59-A6C34878D82A}">
                    <a16:rowId xmlns:a16="http://schemas.microsoft.com/office/drawing/2014/main" val="10001"/>
                  </a:ext>
                </a:extLst>
              </a:tr>
              <a:tr h="512711">
                <a:tc>
                  <a:txBody>
                    <a:bodyPr/>
                    <a:lstStyle/>
                    <a:p>
                      <a:pPr algn="l"/>
                      <a:r>
                        <a:rPr sz="1400" b="1">
                          <a:solidFill>
                            <a:srgbClr val="1F2430"/>
                          </a:solidFill>
                        </a:rPr>
                        <a:t>FailSafe</a:t>
                      </a:r>
                    </a:p>
                  </a:txBody>
                  <a:tcPr marL="73152" marR="73152" marT="36576" marB="36576">
                    <a:solidFill>
                      <a:srgbClr val="FFFFFF"/>
                    </a:solidFill>
                  </a:tcPr>
                </a:tc>
                <a:tc>
                  <a:txBody>
                    <a:bodyPr/>
                    <a:lstStyle/>
                    <a:p>
                      <a:pPr algn="ctr"/>
                      <a:r>
                        <a:rPr sz="1400" b="0">
                          <a:solidFill>
                            <a:srgbClr val="1F2430"/>
                          </a:solidFill>
                        </a:rPr>
                        <a:t>Injected errors in expert rollouts</a:t>
                      </a:r>
                    </a:p>
                  </a:txBody>
                  <a:tcPr marL="73152" marR="73152" marT="36576" marB="36576">
                    <a:solidFill>
                      <a:srgbClr val="FFFFFF"/>
                    </a:solidFill>
                  </a:tcPr>
                </a:tc>
                <a:tc>
                  <a:txBody>
                    <a:bodyPr/>
                    <a:lstStyle/>
                    <a:p>
                      <a:pPr algn="ctr"/>
                      <a:r>
                        <a:rPr sz="1400" b="0">
                          <a:solidFill>
                            <a:srgbClr val="1F2430"/>
                          </a:solidFill>
                        </a:rPr>
                        <a:t>Verified executable recovery actions</a:t>
                      </a:r>
                    </a:p>
                  </a:txBody>
                  <a:tcPr marL="73152" marR="73152" marT="36576" marB="36576">
                    <a:solidFill>
                      <a:srgbClr val="FFFFFF"/>
                    </a:solidFill>
                  </a:tcPr>
                </a:tc>
                <a:tc>
                  <a:txBody>
                    <a:bodyPr/>
                    <a:lstStyle/>
                    <a:p>
                      <a:pPr algn="ctr"/>
                      <a:r>
                        <a:rPr sz="1400" b="0">
                          <a:solidFill>
                            <a:srgbClr val="1F2430"/>
                          </a:solidFill>
                        </a:rPr>
                        <a:t>External failure-reasoning VLM</a:t>
                      </a:r>
                    </a:p>
                  </a:txBody>
                  <a:tcPr marL="73152" marR="73152" marT="36576" marB="36576">
                    <a:solidFill>
                      <a:srgbClr val="FFFFFF"/>
                    </a:solidFill>
                  </a:tcPr>
                </a:tc>
                <a:tc>
                  <a:txBody>
                    <a:bodyPr/>
                    <a:lstStyle/>
                    <a:p>
                      <a:pPr algn="ctr"/>
                      <a:r>
                        <a:rPr sz="1400" b="0">
                          <a:solidFill>
                            <a:srgbClr val="1F2430"/>
                          </a:solidFill>
                        </a:rPr>
                        <a:t>Controlled, but less natural, baseline</a:t>
                      </a:r>
                    </a:p>
                  </a:txBody>
                  <a:tcPr marL="73152" marR="73152" marT="36576" marB="36576">
                    <a:solidFill>
                      <a:srgbClr val="FFFFFF"/>
                    </a:solidFill>
                  </a:tcPr>
                </a:tc>
                <a:extLst>
                  <a:ext uri="{0D108BD9-81ED-4DB2-BD59-A6C34878D82A}">
                    <a16:rowId xmlns:a16="http://schemas.microsoft.com/office/drawing/2014/main" val="10002"/>
                  </a:ext>
                </a:extLst>
              </a:tr>
              <a:tr h="548482">
                <a:tc>
                  <a:txBody>
                    <a:bodyPr/>
                    <a:lstStyle/>
                    <a:p>
                      <a:pPr algn="l"/>
                      <a:r>
                        <a:rPr sz="1400" b="1">
                          <a:solidFill>
                            <a:srgbClr val="1F2430"/>
                          </a:solidFill>
                        </a:rPr>
                        <a:t>FLARE</a:t>
                      </a:r>
                    </a:p>
                  </a:txBody>
                  <a:tcPr marL="73152" marR="73152" marT="36576" marB="36576">
                    <a:solidFill>
                      <a:srgbClr val="FFFFFF"/>
                    </a:solidFill>
                  </a:tcPr>
                </a:tc>
                <a:tc>
                  <a:txBody>
                    <a:bodyPr/>
                    <a:lstStyle/>
                    <a:p>
                      <a:pPr algn="ctr"/>
                      <a:r>
                        <a:rPr sz="1400" b="0">
                          <a:solidFill>
                            <a:srgbClr val="1F2430"/>
                          </a:solidFill>
                        </a:rPr>
                        <a:t>Bridging augmentation plus mined OOD failures</a:t>
                      </a:r>
                    </a:p>
                  </a:txBody>
                  <a:tcPr marL="73152" marR="73152" marT="36576" marB="36576">
                    <a:solidFill>
                      <a:srgbClr val="FFFFFF"/>
                    </a:solidFill>
                  </a:tcPr>
                </a:tc>
                <a:tc>
                  <a:txBody>
                    <a:bodyPr/>
                    <a:lstStyle/>
                    <a:p>
                      <a:pPr algn="ctr"/>
                      <a:r>
                        <a:rPr sz="1400" b="0">
                          <a:solidFill>
                            <a:srgbClr val="1F2430"/>
                          </a:solidFill>
                        </a:rPr>
                        <a:t>Retry policy and reset-skill library</a:t>
                      </a:r>
                    </a:p>
                  </a:txBody>
                  <a:tcPr marL="73152" marR="73152" marT="36576" marB="36576">
                    <a:solidFill>
                      <a:srgbClr val="FFFFFF"/>
                    </a:solidFill>
                  </a:tcPr>
                </a:tc>
                <a:tc>
                  <a:txBody>
                    <a:bodyPr/>
                    <a:lstStyle/>
                    <a:p>
                      <a:pPr algn="ctr"/>
                      <a:r>
                        <a:rPr sz="1400" b="0">
                          <a:solidFill>
                            <a:srgbClr val="1F2430"/>
                          </a:solidFill>
                        </a:rPr>
                        <a:t>MLLM routes retry versus reset</a:t>
                      </a:r>
                    </a:p>
                  </a:txBody>
                  <a:tcPr marL="73152" marR="73152" marT="36576" marB="36576">
                    <a:solidFill>
                      <a:srgbClr val="FFFFFF"/>
                    </a:solidFill>
                  </a:tcPr>
                </a:tc>
                <a:tc>
                  <a:txBody>
                    <a:bodyPr/>
                    <a:lstStyle/>
                    <a:p>
                      <a:pPr algn="ctr"/>
                      <a:r>
                        <a:rPr sz="1400" b="0">
                          <a:solidFill>
                            <a:srgbClr val="1F2430"/>
                          </a:solidFill>
                        </a:rPr>
                        <a:t>Supports retryable/state-breaking routing</a:t>
                      </a:r>
                    </a:p>
                  </a:txBody>
                  <a:tcPr marL="73152" marR="73152" marT="36576" marB="36576">
                    <a:solidFill>
                      <a:srgbClr val="FFFFFF"/>
                    </a:solidFill>
                  </a:tcPr>
                </a:tc>
                <a:extLst>
                  <a:ext uri="{0D108BD9-81ED-4DB2-BD59-A6C34878D82A}">
                    <a16:rowId xmlns:a16="http://schemas.microsoft.com/office/drawing/2014/main" val="10003"/>
                  </a:ext>
                </a:extLst>
              </a:tr>
              <a:tr h="548482">
                <a:tc>
                  <a:txBody>
                    <a:bodyPr/>
                    <a:lstStyle/>
                    <a:p>
                      <a:pPr algn="l"/>
                      <a:r>
                        <a:rPr sz="1400" b="1">
                          <a:solidFill>
                            <a:srgbClr val="1F2430"/>
                          </a:solidFill>
                        </a:rPr>
                        <a:t>Phoenix</a:t>
                      </a:r>
                    </a:p>
                  </a:txBody>
                  <a:tcPr marL="73152" marR="73152" marT="36576" marB="36576">
                    <a:solidFill>
                      <a:srgbClr val="FFFFFF"/>
                    </a:solidFill>
                  </a:tcPr>
                </a:tc>
                <a:tc>
                  <a:txBody>
                    <a:bodyPr/>
                    <a:lstStyle/>
                    <a:p>
                      <a:pPr algn="ctr"/>
                      <a:r>
                        <a:rPr sz="1400" b="0">
                          <a:solidFill>
                            <a:srgbClr val="1F2430"/>
                          </a:solidFill>
                        </a:rPr>
                        <a:t>Expert labels plus human correction annotation</a:t>
                      </a:r>
                    </a:p>
                  </a:txBody>
                  <a:tcPr marL="73152" marR="73152" marT="36576" marB="36576">
                    <a:solidFill>
                      <a:srgbClr val="FFFFFF"/>
                    </a:solidFill>
                  </a:tcPr>
                </a:tc>
                <a:tc>
                  <a:txBody>
                    <a:bodyPr/>
                    <a:lstStyle/>
                    <a:p>
                      <a:pPr algn="ctr"/>
                      <a:r>
                        <a:rPr sz="1400" b="0">
                          <a:solidFill>
                            <a:srgbClr val="1F2430"/>
                          </a:solidFill>
                        </a:rPr>
                        <a:t>Motion instruction conditions diffusion policy</a:t>
                      </a:r>
                    </a:p>
                  </a:txBody>
                  <a:tcPr marL="73152" marR="73152" marT="36576" marB="36576">
                    <a:solidFill>
                      <a:srgbClr val="FFFFFF"/>
                    </a:solidFill>
                  </a:tcPr>
                </a:tc>
                <a:tc>
                  <a:txBody>
                    <a:bodyPr/>
                    <a:lstStyle/>
                    <a:p>
                      <a:pPr algn="ctr"/>
                      <a:r>
                        <a:rPr sz="1400" b="0">
                          <a:solidFill>
                            <a:srgbClr val="1F2430"/>
                          </a:solidFill>
                        </a:rPr>
                        <a:t>Motion correction module</a:t>
                      </a:r>
                    </a:p>
                  </a:txBody>
                  <a:tcPr marL="73152" marR="73152" marT="36576" marB="36576">
                    <a:solidFill>
                      <a:srgbClr val="FFFFFF"/>
                    </a:solidFill>
                  </a:tcPr>
                </a:tc>
                <a:tc>
                  <a:txBody>
                    <a:bodyPr/>
                    <a:lstStyle/>
                    <a:p>
                      <a:pPr algn="ctr"/>
                      <a:r>
                        <a:rPr sz="1400" b="0">
                          <a:solidFill>
                            <a:srgbClr val="1F2430"/>
                          </a:solidFill>
                        </a:rPr>
                        <a:t>Useful mid-level interface; more supervision</a:t>
                      </a:r>
                    </a:p>
                  </a:txBody>
                  <a:tcPr marL="73152" marR="73152" marT="36576" marB="36576">
                    <a:solidFill>
                      <a:srgbClr val="FFFFFF"/>
                    </a:solidFill>
                  </a:tcPr>
                </a:tc>
                <a:extLst>
                  <a:ext uri="{0D108BD9-81ED-4DB2-BD59-A6C34878D82A}">
                    <a16:rowId xmlns:a16="http://schemas.microsoft.com/office/drawing/2014/main" val="10004"/>
                  </a:ext>
                </a:extLst>
              </a:tr>
              <a:tr h="548482">
                <a:tc>
                  <a:txBody>
                    <a:bodyPr/>
                    <a:lstStyle/>
                    <a:p>
                      <a:pPr algn="l"/>
                      <a:r>
                        <a:rPr sz="1400" b="1">
                          <a:solidFill>
                            <a:srgbClr val="1F2430"/>
                          </a:solidFill>
                        </a:rPr>
                        <a:t>SAFE</a:t>
                      </a:r>
                    </a:p>
                  </a:txBody>
                  <a:tcPr marL="73152" marR="73152" marT="36576" marB="36576">
                    <a:solidFill>
                      <a:srgbClr val="FFFFFF"/>
                    </a:solidFill>
                  </a:tcPr>
                </a:tc>
                <a:tc>
                  <a:txBody>
                    <a:bodyPr/>
                    <a:lstStyle/>
                    <a:p>
                      <a:pPr algn="ctr"/>
                      <a:r>
                        <a:rPr sz="1400" b="0">
                          <a:solidFill>
                            <a:srgbClr val="1F2430"/>
                          </a:solidFill>
                        </a:rPr>
                        <a:t>Successful and failed on-policy rollouts</a:t>
                      </a:r>
                    </a:p>
                  </a:txBody>
                  <a:tcPr marL="73152" marR="73152" marT="36576" marB="36576">
                    <a:solidFill>
                      <a:srgbClr val="FFFFFF"/>
                    </a:solidFill>
                  </a:tcPr>
                </a:tc>
                <a:tc>
                  <a:txBody>
                    <a:bodyPr/>
                    <a:lstStyle/>
                    <a:p>
                      <a:pPr algn="ctr"/>
                      <a:r>
                        <a:rPr sz="1400" b="0" dirty="0">
                          <a:solidFill>
                            <a:srgbClr val="1F2430"/>
                          </a:solidFill>
                        </a:rPr>
                        <a:t>Failure score from frozen VLA features</a:t>
                      </a:r>
                    </a:p>
                  </a:txBody>
                  <a:tcPr marL="73152" marR="73152" marT="36576" marB="36576">
                    <a:solidFill>
                      <a:srgbClr val="FFFFFF"/>
                    </a:solidFill>
                  </a:tcPr>
                </a:tc>
                <a:tc>
                  <a:txBody>
                    <a:bodyPr/>
                    <a:lstStyle/>
                    <a:p>
                      <a:pPr algn="ctr"/>
                      <a:r>
                        <a:rPr sz="1400" b="0">
                          <a:solidFill>
                            <a:srgbClr val="1F2430"/>
                          </a:solidFill>
                        </a:rPr>
                        <a:t>Temporal detector with conformal calibration</a:t>
                      </a:r>
                    </a:p>
                  </a:txBody>
                  <a:tcPr marL="73152" marR="73152" marT="36576" marB="36576">
                    <a:solidFill>
                      <a:srgbClr val="FFFFFF"/>
                    </a:solidFill>
                  </a:tcPr>
                </a:tc>
                <a:tc>
                  <a:txBody>
                    <a:bodyPr/>
                    <a:lstStyle/>
                    <a:p>
                      <a:pPr algn="ctr"/>
                      <a:r>
                        <a:rPr sz="1400" b="0">
                          <a:solidFill>
                            <a:srgbClr val="1F2430"/>
                          </a:solidFill>
                        </a:rPr>
                        <a:t>Best starting point for early detection</a:t>
                      </a:r>
                    </a:p>
                  </a:txBody>
                  <a:tcPr marL="73152" marR="73152" marT="36576" marB="36576">
                    <a:solidFill>
                      <a:srgbClr val="FFFFFF"/>
                    </a:solidFill>
                  </a:tcPr>
                </a:tc>
                <a:extLst>
                  <a:ext uri="{0D108BD9-81ED-4DB2-BD59-A6C34878D82A}">
                    <a16:rowId xmlns:a16="http://schemas.microsoft.com/office/drawing/2014/main" val="10005"/>
                  </a:ext>
                </a:extLst>
              </a:tr>
              <a:tr h="548482">
                <a:tc>
                  <a:txBody>
                    <a:bodyPr/>
                    <a:lstStyle/>
                    <a:p>
                      <a:pPr algn="l"/>
                      <a:r>
                        <a:rPr sz="1400" b="1">
                          <a:solidFill>
                            <a:srgbClr val="1F2430"/>
                          </a:solidFill>
                        </a:rPr>
                        <a:t>Sentinel-VLA</a:t>
                      </a:r>
                    </a:p>
                  </a:txBody>
                  <a:tcPr marL="73152" marR="73152" marT="36576" marB="36576">
                    <a:solidFill>
                      <a:srgbClr val="FFFFFF"/>
                    </a:solidFill>
                  </a:tcPr>
                </a:tc>
                <a:tc>
                  <a:txBody>
                    <a:bodyPr/>
                    <a:lstStyle/>
                    <a:p>
                      <a:pPr algn="ctr"/>
                      <a:r>
                        <a:rPr sz="1400" b="0">
                          <a:solidFill>
                            <a:srgbClr val="1F2430"/>
                          </a:solidFill>
                        </a:rPr>
                        <a:t>Synthetic recovery trajectories</a:t>
                      </a:r>
                    </a:p>
                  </a:txBody>
                  <a:tcPr marL="73152" marR="73152" marT="36576" marB="36576">
                    <a:solidFill>
                      <a:srgbClr val="FFFFFF"/>
                    </a:solidFill>
                  </a:tcPr>
                </a:tc>
                <a:tc>
                  <a:txBody>
                    <a:bodyPr/>
                    <a:lstStyle/>
                    <a:p>
                      <a:pPr algn="ctr"/>
                      <a:r>
                        <a:rPr sz="1400" b="0">
                          <a:solidFill>
                            <a:srgbClr val="1F2430"/>
                          </a:solidFill>
                        </a:rPr>
                        <a:t>Unified status-aware recovery training</a:t>
                      </a:r>
                    </a:p>
                  </a:txBody>
                  <a:tcPr marL="73152" marR="73152" marT="36576" marB="36576">
                    <a:solidFill>
                      <a:srgbClr val="FFFFFF"/>
                    </a:solidFill>
                  </a:tcPr>
                </a:tc>
                <a:tc>
                  <a:txBody>
                    <a:bodyPr/>
                    <a:lstStyle/>
                    <a:p>
                      <a:pPr algn="ctr"/>
                      <a:r>
                        <a:rPr sz="1400" b="0">
                          <a:solidFill>
                            <a:srgbClr val="1F2430"/>
                          </a:solidFill>
                        </a:rPr>
                        <a:t>Integrated status sentinel</a:t>
                      </a:r>
                    </a:p>
                  </a:txBody>
                  <a:tcPr marL="73152" marR="73152" marT="36576" marB="36576">
                    <a:solidFill>
                      <a:srgbClr val="FFFFFF"/>
                    </a:solidFill>
                  </a:tcPr>
                </a:tc>
                <a:tc>
                  <a:txBody>
                    <a:bodyPr/>
                    <a:lstStyle/>
                    <a:p>
                      <a:pPr algn="ctr"/>
                      <a:r>
                        <a:rPr sz="1400" b="0" dirty="0">
                          <a:solidFill>
                            <a:srgbClr val="1F2430"/>
                          </a:solidFill>
                        </a:rPr>
                        <a:t>On-demand reasoning; larger first build</a:t>
                      </a:r>
                    </a:p>
                  </a:txBody>
                  <a:tcPr marL="73152" marR="73152" marT="36576" marB="36576">
                    <a:solidFill>
                      <a:srgbClr val="FFFFFF"/>
                    </a:solidFill>
                  </a:tcPr>
                </a:tc>
                <a:extLst>
                  <a:ext uri="{0D108BD9-81ED-4DB2-BD59-A6C34878D82A}">
                    <a16:rowId xmlns:a16="http://schemas.microsoft.com/office/drawing/2014/main" val="10006"/>
                  </a:ext>
                </a:extLst>
              </a:tr>
            </a:tbl>
          </a:graphicData>
        </a:graphic>
      </p:graphicFrame>
      <p:sp>
        <p:nvSpPr>
          <p:cNvPr id="5" name="table-note"/>
          <p:cNvSpPr txBox="1"/>
          <p:nvPr/>
        </p:nvSpPr>
        <p:spPr>
          <a:xfrm>
            <a:off x="479316" y="5623560"/>
            <a:ext cx="10698480" cy="502920"/>
          </a:xfrm>
          <a:prstGeom prst="rect">
            <a:avLst/>
          </a:prstGeom>
          <a:noFill/>
        </p:spPr>
        <p:txBody>
          <a:bodyPr wrap="square" lIns="50800" tIns="12700" rIns="50800" bIns="12700" anchor="t">
            <a:spAutoFit/>
          </a:bodyPr>
          <a:lstStyle/>
          <a:p>
            <a:pPr algn="l"/>
            <a:r>
              <a:rPr sz="1150" b="0">
                <a:solidFill>
                  <a:srgbClr val="6F768A"/>
                </a:solidFill>
                <a:latin typeface="Arial"/>
              </a:rPr>
              <a:t>Source table extracted from the report.</a:t>
            </a:r>
          </a:p>
        </p:txBody>
      </p:sp>
      <p:sp>
        <p:nvSpPr>
          <p:cNvPr id="6" name="source-note"/>
          <p:cNvSpPr txBox="1"/>
          <p:nvPr/>
        </p:nvSpPr>
        <p:spPr>
          <a:xfrm>
            <a:off x="566928" y="6419088"/>
            <a:ext cx="11064240" cy="310896"/>
          </a:xfrm>
          <a:prstGeom prst="rect">
            <a:avLst/>
          </a:prstGeom>
          <a:noFill/>
        </p:spPr>
        <p:txBody>
          <a:bodyPr wrap="square" lIns="50800" tIns="12700" rIns="50800" bIns="12700" anchor="t">
            <a:spAutoFit/>
          </a:bodyPr>
          <a:lstStyle/>
          <a:p>
            <a:pPr algn="l"/>
            <a:r>
              <a:rPr sz="750" b="0" dirty="0">
                <a:solidFill>
                  <a:srgbClr val="6F768A"/>
                </a:solidFill>
                <a:latin typeface="Arial"/>
              </a:rPr>
              <a:t>Source: Reviewed failure and recovery literature set · Table: </a:t>
            </a:r>
            <a:r>
              <a:rPr sz="750" b="0" dirty="0" err="1">
                <a:solidFill>
                  <a:srgbClr val="6F768A"/>
                </a:solidFill>
                <a:latin typeface="Arial"/>
              </a:rPr>
              <a:t>reviewed_primary_papers.failure_taxonomy</a:t>
            </a:r>
            <a:r>
              <a:rPr sz="750" b="0" dirty="0">
                <a:solidFill>
                  <a:srgbClr val="6F768A"/>
                </a:solidFill>
                <a:latin typeface="Arial"/>
              </a:rPr>
              <a:t> · Materializes the paper-method taxonomy reviewed from six primary papers.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slide-title"/>
          <p:cNvSpPr txBox="1"/>
          <p:nvPr/>
        </p:nvSpPr>
        <p:spPr>
          <a:xfrm>
            <a:off x="566928" y="384048"/>
            <a:ext cx="10972800" cy="502920"/>
          </a:xfrm>
          <a:prstGeom prst="rect">
            <a:avLst/>
          </a:prstGeom>
          <a:noFill/>
        </p:spPr>
        <p:txBody>
          <a:bodyPr wrap="square" lIns="50800" tIns="12700" rIns="50800" bIns="12700" anchor="t">
            <a:spAutoFit/>
          </a:bodyPr>
          <a:lstStyle/>
          <a:p>
            <a:pPr algn="l"/>
            <a:r>
              <a:rPr sz="2200" b="1">
                <a:solidFill>
                  <a:srgbClr val="1F2430"/>
                </a:solidFill>
                <a:latin typeface="Arial"/>
              </a:rPr>
              <a:t>Minimal-to-full experimental ladder table</a:t>
            </a:r>
          </a:p>
        </p:txBody>
      </p:sp>
      <p:graphicFrame>
        <p:nvGraphicFramePr>
          <p:cNvPr id="4" name="table-main"/>
          <p:cNvGraphicFramePr>
            <a:graphicFrameLocks noGrp="1"/>
          </p:cNvGraphicFramePr>
          <p:nvPr>
            <p:extLst>
              <p:ext uri="{D42A27DB-BD31-4B8C-83A1-F6EECF244321}">
                <p14:modId xmlns:p14="http://schemas.microsoft.com/office/powerpoint/2010/main" val="263362537"/>
              </p:ext>
            </p:extLst>
          </p:nvPr>
        </p:nvGraphicFramePr>
        <p:xfrm>
          <a:off x="225837" y="1389888"/>
          <a:ext cx="11405331" cy="3788167"/>
        </p:xfrm>
        <a:graphic>
          <a:graphicData uri="http://schemas.openxmlformats.org/drawingml/2006/table">
            <a:tbl>
              <a:tblPr firstRow="1" bandRow="1">
                <a:tableStyleId>{5C22544A-7EE6-4342-B048-85BDC9FD1C3A}</a:tableStyleId>
              </a:tblPr>
              <a:tblGrid>
                <a:gridCol w="1838049">
                  <a:extLst>
                    <a:ext uri="{9D8B030D-6E8A-4147-A177-3AD203B41FA5}">
                      <a16:colId xmlns:a16="http://schemas.microsoft.com/office/drawing/2014/main" val="20000"/>
                    </a:ext>
                  </a:extLst>
                </a:gridCol>
                <a:gridCol w="3189094">
                  <a:extLst>
                    <a:ext uri="{9D8B030D-6E8A-4147-A177-3AD203B41FA5}">
                      <a16:colId xmlns:a16="http://schemas.microsoft.com/office/drawing/2014/main" val="20001"/>
                    </a:ext>
                  </a:extLst>
                </a:gridCol>
                <a:gridCol w="3189094">
                  <a:extLst>
                    <a:ext uri="{9D8B030D-6E8A-4147-A177-3AD203B41FA5}">
                      <a16:colId xmlns:a16="http://schemas.microsoft.com/office/drawing/2014/main" val="20002"/>
                    </a:ext>
                  </a:extLst>
                </a:gridCol>
                <a:gridCol w="3189094">
                  <a:extLst>
                    <a:ext uri="{9D8B030D-6E8A-4147-A177-3AD203B41FA5}">
                      <a16:colId xmlns:a16="http://schemas.microsoft.com/office/drawing/2014/main" val="20003"/>
                    </a:ext>
                  </a:extLst>
                </a:gridCol>
              </a:tblGrid>
              <a:tr h="645852">
                <a:tc>
                  <a:txBody>
                    <a:bodyPr/>
                    <a:lstStyle/>
                    <a:p>
                      <a:pPr algn="l"/>
                      <a:r>
                        <a:rPr sz="1200" b="1">
                          <a:solidFill>
                            <a:srgbClr val="1F2430"/>
                          </a:solidFill>
                        </a:rPr>
                        <a:t>Phase</a:t>
                      </a:r>
                    </a:p>
                  </a:txBody>
                  <a:tcPr marL="73152" marR="73152" marT="36576" marB="36576">
                    <a:solidFill>
                      <a:srgbClr val="CEDFFE"/>
                    </a:solidFill>
                  </a:tcPr>
                </a:tc>
                <a:tc>
                  <a:txBody>
                    <a:bodyPr/>
                    <a:lstStyle/>
                    <a:p>
                      <a:pPr algn="ctr"/>
                      <a:r>
                        <a:rPr sz="1200" b="1">
                          <a:solidFill>
                            <a:srgbClr val="1F2430"/>
                          </a:solidFill>
                        </a:rPr>
                        <a:t>Intervention</a:t>
                      </a:r>
                    </a:p>
                  </a:txBody>
                  <a:tcPr marL="73152" marR="73152" marT="36576" marB="36576">
                    <a:solidFill>
                      <a:srgbClr val="CEDFFE"/>
                    </a:solidFill>
                  </a:tcPr>
                </a:tc>
                <a:tc>
                  <a:txBody>
                    <a:bodyPr/>
                    <a:lstStyle/>
                    <a:p>
                      <a:pPr algn="ctr"/>
                      <a:r>
                        <a:rPr sz="1200" b="1">
                          <a:solidFill>
                            <a:srgbClr val="1F2430"/>
                          </a:solidFill>
                        </a:rPr>
                        <a:t>Controlled comparison</a:t>
                      </a:r>
                    </a:p>
                  </a:txBody>
                  <a:tcPr marL="73152" marR="73152" marT="36576" marB="36576">
                    <a:solidFill>
                      <a:srgbClr val="CEDFFE"/>
                    </a:solidFill>
                  </a:tcPr>
                </a:tc>
                <a:tc>
                  <a:txBody>
                    <a:bodyPr/>
                    <a:lstStyle/>
                    <a:p>
                      <a:pPr algn="ctr"/>
                      <a:r>
                        <a:rPr sz="1200" b="1">
                          <a:solidFill>
                            <a:srgbClr val="1F2430"/>
                          </a:solidFill>
                        </a:rPr>
                        <a:t>Decision gate</a:t>
                      </a:r>
                    </a:p>
                  </a:txBody>
                  <a:tcPr marL="73152" marR="73152" marT="36576" marB="36576">
                    <a:solidFill>
                      <a:srgbClr val="CEDFFE"/>
                    </a:solidFill>
                  </a:tcPr>
                </a:tc>
                <a:extLst>
                  <a:ext uri="{0D108BD9-81ED-4DB2-BD59-A6C34878D82A}">
                    <a16:rowId xmlns:a16="http://schemas.microsoft.com/office/drawing/2014/main" val="10000"/>
                  </a:ext>
                </a:extLst>
              </a:tr>
              <a:tr h="628463">
                <a:tc>
                  <a:txBody>
                    <a:bodyPr/>
                    <a:lstStyle/>
                    <a:p>
                      <a:pPr algn="l"/>
                      <a:r>
                        <a:rPr sz="1600" b="1">
                          <a:solidFill>
                            <a:srgbClr val="1F2430"/>
                          </a:solidFill>
                        </a:rPr>
                        <a:t>1</a:t>
                      </a:r>
                    </a:p>
                  </a:txBody>
                  <a:tcPr marL="73152" marR="73152" marT="36576" marB="36576">
                    <a:solidFill>
                      <a:srgbClr val="FFFFFF"/>
                    </a:solidFill>
                  </a:tcPr>
                </a:tc>
                <a:tc>
                  <a:txBody>
                    <a:bodyPr/>
                    <a:lstStyle/>
                    <a:p>
                      <a:pPr algn="ctr"/>
                      <a:r>
                        <a:rPr sz="1600" b="0">
                          <a:solidFill>
                            <a:srgbClr val="1F2430"/>
                          </a:solidFill>
                        </a:rPr>
                        <a:t>Oracle failure onset plus EEF rollback and unguided retry</a:t>
                      </a:r>
                    </a:p>
                  </a:txBody>
                  <a:tcPr marL="73152" marR="73152" marT="36576" marB="36576">
                    <a:solidFill>
                      <a:srgbClr val="FFFFFF"/>
                    </a:solidFill>
                  </a:tcPr>
                </a:tc>
                <a:tc>
                  <a:txBody>
                    <a:bodyPr/>
                    <a:lstStyle/>
                    <a:p>
                      <a:pPr algn="ctr"/>
                      <a:r>
                        <a:rPr sz="1600" b="0">
                          <a:solidFill>
                            <a:srgbClr val="1F2430"/>
                          </a:solidFill>
                        </a:rPr>
                        <a:t>No intervention; retry without rollback; full-state rollback oracle</a:t>
                      </a:r>
                    </a:p>
                  </a:txBody>
                  <a:tcPr marL="73152" marR="73152" marT="36576" marB="36576">
                    <a:solidFill>
                      <a:srgbClr val="FFFFFF"/>
                    </a:solidFill>
                  </a:tcPr>
                </a:tc>
                <a:tc>
                  <a:txBody>
                    <a:bodyPr/>
                    <a:lstStyle/>
                    <a:p>
                      <a:pPr algn="ctr"/>
                      <a:r>
                        <a:rPr sz="1600" b="0">
                          <a:solidFill>
                            <a:srgbClr val="1F2430"/>
                          </a:solidFill>
                        </a:rPr>
                        <a:t>Rollback produces retryable states without frequent prefix regression</a:t>
                      </a:r>
                    </a:p>
                  </a:txBody>
                  <a:tcPr marL="73152" marR="73152" marT="36576" marB="36576">
                    <a:solidFill>
                      <a:srgbClr val="FFFFFF"/>
                    </a:solidFill>
                  </a:tcPr>
                </a:tc>
                <a:extLst>
                  <a:ext uri="{0D108BD9-81ED-4DB2-BD59-A6C34878D82A}">
                    <a16:rowId xmlns:a16="http://schemas.microsoft.com/office/drawing/2014/main" val="10001"/>
                  </a:ext>
                </a:extLst>
              </a:tr>
              <a:tr h="628463">
                <a:tc>
                  <a:txBody>
                    <a:bodyPr/>
                    <a:lstStyle/>
                    <a:p>
                      <a:pPr algn="l"/>
                      <a:r>
                        <a:rPr sz="1600" b="1">
                          <a:solidFill>
                            <a:srgbClr val="1F2430"/>
                          </a:solidFill>
                        </a:rPr>
                        <a:t>2</a:t>
                      </a:r>
                    </a:p>
                  </a:txBody>
                  <a:tcPr marL="73152" marR="73152" marT="36576" marB="36576">
                    <a:solidFill>
                      <a:srgbClr val="FFFFFF"/>
                    </a:solidFill>
                  </a:tcPr>
                </a:tc>
                <a:tc>
                  <a:txBody>
                    <a:bodyPr/>
                    <a:lstStyle/>
                    <a:p>
                      <a:pPr algn="ctr"/>
                      <a:r>
                        <a:rPr sz="1600" b="0">
                          <a:solidFill>
                            <a:srgbClr val="1F2430"/>
                          </a:solidFill>
                        </a:rPr>
                        <a:t>EEF rollback plus subtask-critic reranking</a:t>
                      </a:r>
                    </a:p>
                  </a:txBody>
                  <a:tcPr marL="73152" marR="73152" marT="36576" marB="36576">
                    <a:solidFill>
                      <a:srgbClr val="FFFFFF"/>
                    </a:solidFill>
                  </a:tcPr>
                </a:tc>
                <a:tc>
                  <a:txBody>
                    <a:bodyPr/>
                    <a:lstStyle/>
                    <a:p>
                      <a:pPr algn="ctr"/>
                      <a:r>
                        <a:rPr sz="1600" b="0">
                          <a:solidFill>
                            <a:srgbClr val="1F2430"/>
                          </a:solidFill>
                        </a:rPr>
                        <a:t>Same checkpoints and candidate budgets as unguided retry</a:t>
                      </a:r>
                    </a:p>
                  </a:txBody>
                  <a:tcPr marL="73152" marR="73152" marT="36576" marB="36576">
                    <a:solidFill>
                      <a:srgbClr val="FFFFFF"/>
                    </a:solidFill>
                  </a:tcPr>
                </a:tc>
                <a:tc>
                  <a:txBody>
                    <a:bodyPr/>
                    <a:lstStyle/>
                    <a:p>
                      <a:pPr algn="ctr"/>
                      <a:r>
                        <a:rPr sz="1600" b="0">
                          <a:solidFill>
                            <a:srgbClr val="1F2430"/>
                          </a:solidFill>
                        </a:rPr>
                        <a:t>Reranking improves failed-subtask completion and end-to-end success</a:t>
                      </a:r>
                    </a:p>
                  </a:txBody>
                  <a:tcPr marL="73152" marR="73152" marT="36576" marB="36576">
                    <a:solidFill>
                      <a:srgbClr val="FFFFFF"/>
                    </a:solidFill>
                  </a:tcPr>
                </a:tc>
                <a:extLst>
                  <a:ext uri="{0D108BD9-81ED-4DB2-BD59-A6C34878D82A}">
                    <a16:rowId xmlns:a16="http://schemas.microsoft.com/office/drawing/2014/main" val="10002"/>
                  </a:ext>
                </a:extLst>
              </a:tr>
              <a:tr h="628463">
                <a:tc>
                  <a:txBody>
                    <a:bodyPr/>
                    <a:lstStyle/>
                    <a:p>
                      <a:pPr algn="l"/>
                      <a:r>
                        <a:rPr sz="1600" b="1">
                          <a:solidFill>
                            <a:srgbClr val="1F2430"/>
                          </a:solidFill>
                        </a:rPr>
                        <a:t>3</a:t>
                      </a:r>
                    </a:p>
                  </a:txBody>
                  <a:tcPr marL="73152" marR="73152" marT="36576" marB="36576">
                    <a:solidFill>
                      <a:srgbClr val="FFFFFF"/>
                    </a:solidFill>
                  </a:tcPr>
                </a:tc>
                <a:tc>
                  <a:txBody>
                    <a:bodyPr/>
                    <a:lstStyle/>
                    <a:p>
                      <a:pPr algn="ctr"/>
                      <a:r>
                        <a:rPr sz="1600" b="0">
                          <a:solidFill>
                            <a:srgbClr val="1F2430"/>
                          </a:solidFill>
                        </a:rPr>
                        <a:t>Learned temporal detector and retryable/state-breaking router</a:t>
                      </a:r>
                    </a:p>
                  </a:txBody>
                  <a:tcPr marL="73152" marR="73152" marT="36576" marB="36576">
                    <a:solidFill>
                      <a:srgbClr val="FFFFFF"/>
                    </a:solidFill>
                  </a:tcPr>
                </a:tc>
                <a:tc>
                  <a:txBody>
                    <a:bodyPr/>
                    <a:lstStyle/>
                    <a:p>
                      <a:pPr algn="ctr"/>
                      <a:r>
                        <a:rPr sz="1600" b="0">
                          <a:solidFill>
                            <a:srgbClr val="1F2430"/>
                          </a:solidFill>
                        </a:rPr>
                        <a:t>Oracle onset and simulator-timeout detection</a:t>
                      </a:r>
                    </a:p>
                  </a:txBody>
                  <a:tcPr marL="73152" marR="73152" marT="36576" marB="36576">
                    <a:solidFill>
                      <a:srgbClr val="FFFFFF"/>
                    </a:solidFill>
                  </a:tcPr>
                </a:tc>
                <a:tc>
                  <a:txBody>
                    <a:bodyPr/>
                    <a:lstStyle/>
                    <a:p>
                      <a:pPr algn="ctr"/>
                      <a:r>
                        <a:rPr sz="1600" b="0">
                          <a:solidFill>
                            <a:srgbClr val="1F2430"/>
                          </a:solidFill>
                        </a:rPr>
                        <a:t>Timely detection with acceptable clean-run false alarms</a:t>
                      </a:r>
                    </a:p>
                  </a:txBody>
                  <a:tcPr marL="73152" marR="73152" marT="36576" marB="36576">
                    <a:solidFill>
                      <a:srgbClr val="FFFFFF"/>
                    </a:solidFill>
                  </a:tcPr>
                </a:tc>
                <a:extLst>
                  <a:ext uri="{0D108BD9-81ED-4DB2-BD59-A6C34878D82A}">
                    <a16:rowId xmlns:a16="http://schemas.microsoft.com/office/drawing/2014/main" val="10003"/>
                  </a:ext>
                </a:extLst>
              </a:tr>
              <a:tr h="628463">
                <a:tc>
                  <a:txBody>
                    <a:bodyPr/>
                    <a:lstStyle/>
                    <a:p>
                      <a:pPr algn="l"/>
                      <a:r>
                        <a:rPr sz="1600" b="1">
                          <a:solidFill>
                            <a:srgbClr val="1F2430"/>
                          </a:solidFill>
                        </a:rPr>
                        <a:t>4</a:t>
                      </a:r>
                    </a:p>
                  </a:txBody>
                  <a:tcPr marL="73152" marR="73152" marT="36576" marB="36576">
                    <a:solidFill>
                      <a:srgbClr val="FFFFFF"/>
                    </a:solidFill>
                  </a:tcPr>
                </a:tc>
                <a:tc>
                  <a:txBody>
                    <a:bodyPr/>
                    <a:lstStyle/>
                    <a:p>
                      <a:pPr algn="ctr"/>
                      <a:r>
                        <a:rPr sz="1600" b="0">
                          <a:solidFill>
                            <a:srgbClr val="1F2430"/>
                          </a:solidFill>
                        </a:rPr>
                        <a:t>Subtask-conditioned direct flow guidance</a:t>
                      </a:r>
                    </a:p>
                  </a:txBody>
                  <a:tcPr marL="73152" marR="73152" marT="36576" marB="36576">
                    <a:solidFill>
                      <a:srgbClr val="FFFFFF"/>
                    </a:solidFill>
                  </a:tcPr>
                </a:tc>
                <a:tc>
                  <a:txBody>
                    <a:bodyPr/>
                    <a:lstStyle/>
                    <a:p>
                      <a:pPr algn="ctr"/>
                      <a:r>
                        <a:rPr sz="1600" b="0" dirty="0">
                          <a:solidFill>
                            <a:srgbClr val="1F2430"/>
                          </a:solidFill>
                        </a:rPr>
                        <a:t>Critic reranking at matched inference budget</a:t>
                      </a:r>
                    </a:p>
                  </a:txBody>
                  <a:tcPr marL="73152" marR="73152" marT="36576" marB="36576">
                    <a:solidFill>
                      <a:srgbClr val="FFFFFF"/>
                    </a:solidFill>
                  </a:tcPr>
                </a:tc>
                <a:tc>
                  <a:txBody>
                    <a:bodyPr/>
                    <a:lstStyle/>
                    <a:p>
                      <a:pPr algn="ctr"/>
                      <a:r>
                        <a:rPr sz="1600" b="0">
                          <a:solidFill>
                            <a:srgbClr val="1F2430"/>
                          </a:solidFill>
                        </a:rPr>
                        <a:t>Guidance adds value without reducing clean-run success or safety</a:t>
                      </a:r>
                    </a:p>
                  </a:txBody>
                  <a:tcPr marL="73152" marR="73152" marT="36576" marB="36576">
                    <a:solidFill>
                      <a:srgbClr val="FFFFFF"/>
                    </a:solidFill>
                  </a:tcPr>
                </a:tc>
                <a:extLst>
                  <a:ext uri="{0D108BD9-81ED-4DB2-BD59-A6C34878D82A}">
                    <a16:rowId xmlns:a16="http://schemas.microsoft.com/office/drawing/2014/main" val="10004"/>
                  </a:ext>
                </a:extLst>
              </a:tr>
              <a:tr h="628463">
                <a:tc>
                  <a:txBody>
                    <a:bodyPr/>
                    <a:lstStyle/>
                    <a:p>
                      <a:pPr algn="l"/>
                      <a:r>
                        <a:rPr sz="1600" b="1">
                          <a:solidFill>
                            <a:srgbClr val="1F2430"/>
                          </a:solidFill>
                        </a:rPr>
                        <a:t>5</a:t>
                      </a:r>
                    </a:p>
                  </a:txBody>
                  <a:tcPr marL="73152" marR="73152" marT="36576" marB="36576">
                    <a:solidFill>
                      <a:srgbClr val="FFFFFF"/>
                    </a:solidFill>
                  </a:tcPr>
                </a:tc>
                <a:tc>
                  <a:txBody>
                    <a:bodyPr/>
                    <a:lstStyle/>
                    <a:p>
                      <a:pPr algn="ctr"/>
                      <a:r>
                        <a:rPr sz="1600" b="0">
                          <a:solidFill>
                            <a:srgbClr val="1F2430"/>
                          </a:solidFill>
                        </a:rPr>
                        <a:t>Explicit reset skills for state-breaking failures</a:t>
                      </a:r>
                    </a:p>
                  </a:txBody>
                  <a:tcPr marL="73152" marR="73152" marT="36576" marB="36576">
                    <a:solidFill>
                      <a:srgbClr val="FFFFFF"/>
                    </a:solidFill>
                  </a:tcPr>
                </a:tc>
                <a:tc>
                  <a:txBody>
                    <a:bodyPr/>
                    <a:lstStyle/>
                    <a:p>
                      <a:pPr algn="ctr"/>
                      <a:r>
                        <a:rPr sz="1600" b="0">
                          <a:solidFill>
                            <a:srgbClr val="1F2430"/>
                          </a:solidFill>
                        </a:rPr>
                        <a:t>Retry-only system and reset oracle</a:t>
                      </a:r>
                    </a:p>
                  </a:txBody>
                  <a:tcPr marL="73152" marR="73152" marT="36576" marB="36576">
                    <a:solidFill>
                      <a:srgbClr val="FFFFFF"/>
                    </a:solidFill>
                  </a:tcPr>
                </a:tc>
                <a:tc>
                  <a:txBody>
                    <a:bodyPr/>
                    <a:lstStyle/>
                    <a:p>
                      <a:pPr algn="ctr"/>
                      <a:r>
                        <a:rPr sz="1600" b="0" dirty="0">
                          <a:solidFill>
                            <a:srgbClr val="1F2430"/>
                          </a:solidFill>
                        </a:rPr>
                        <a:t>Targeted reset data closes failures that resampling cannot solve</a:t>
                      </a:r>
                    </a:p>
                  </a:txBody>
                  <a:tcPr marL="73152" marR="73152" marT="36576" marB="36576">
                    <a:solidFill>
                      <a:srgbClr val="FFFFFF"/>
                    </a:solidFill>
                  </a:tcPr>
                </a:tc>
                <a:extLst>
                  <a:ext uri="{0D108BD9-81ED-4DB2-BD59-A6C34878D82A}">
                    <a16:rowId xmlns:a16="http://schemas.microsoft.com/office/drawing/2014/main" val="10005"/>
                  </a:ext>
                </a:extLst>
              </a:tr>
            </a:tbl>
          </a:graphicData>
        </a:graphic>
      </p:graphicFrame>
      <p:sp>
        <p:nvSpPr>
          <p:cNvPr id="5" name="table-note"/>
          <p:cNvSpPr txBox="1"/>
          <p:nvPr/>
        </p:nvSpPr>
        <p:spPr>
          <a:xfrm>
            <a:off x="704088" y="5916168"/>
            <a:ext cx="10698480" cy="502920"/>
          </a:xfrm>
          <a:prstGeom prst="rect">
            <a:avLst/>
          </a:prstGeom>
          <a:noFill/>
        </p:spPr>
        <p:txBody>
          <a:bodyPr wrap="square" lIns="50800" tIns="12700" rIns="50800" bIns="12700" anchor="t">
            <a:spAutoFit/>
          </a:bodyPr>
          <a:lstStyle/>
          <a:p>
            <a:pPr algn="l"/>
            <a:r>
              <a:rPr sz="1150" b="0" dirty="0">
                <a:solidFill>
                  <a:srgbClr val="6F768A"/>
                </a:solidFill>
                <a:latin typeface="Arial"/>
              </a:rPr>
              <a:t>Source table extracted from the report.</a:t>
            </a:r>
          </a:p>
        </p:txBody>
      </p:sp>
      <p:sp>
        <p:nvSpPr>
          <p:cNvPr id="6" name="source-note"/>
          <p:cNvSpPr txBox="1"/>
          <p:nvPr/>
        </p:nvSpPr>
        <p:spPr>
          <a:xfrm>
            <a:off x="566928" y="6419088"/>
            <a:ext cx="11064240" cy="310896"/>
          </a:xfrm>
          <a:prstGeom prst="rect">
            <a:avLst/>
          </a:prstGeom>
          <a:noFill/>
        </p:spPr>
        <p:txBody>
          <a:bodyPr wrap="square" lIns="50800" tIns="12700" rIns="50800" bIns="12700" anchor="t">
            <a:spAutoFit/>
          </a:bodyPr>
          <a:lstStyle/>
          <a:p>
            <a:pPr algn="l"/>
            <a:r>
              <a:rPr sz="750" b="0">
                <a:solidFill>
                  <a:srgbClr val="6F768A"/>
                </a:solidFill>
                <a:latin typeface="Arial"/>
              </a:rPr>
              <a:t>Source: Current project report and research notes · Table: current_project_report.experiment_ladder · Materializes the reviewed experimental ladder from the current project report.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slide-title"/>
          <p:cNvSpPr txBox="1"/>
          <p:nvPr/>
        </p:nvSpPr>
        <p:spPr>
          <a:xfrm>
            <a:off x="566928" y="384048"/>
            <a:ext cx="10972800" cy="658368"/>
          </a:xfrm>
          <a:prstGeom prst="rect">
            <a:avLst/>
          </a:prstGeom>
          <a:noFill/>
        </p:spPr>
        <p:txBody>
          <a:bodyPr wrap="square" lIns="50800" tIns="12700" rIns="50800" bIns="12700" anchor="t">
            <a:spAutoFit/>
          </a:bodyPr>
          <a:lstStyle/>
          <a:p>
            <a:pPr algn="l"/>
            <a:r>
              <a:rPr sz="2100" b="1">
                <a:solidFill>
                  <a:srgbClr val="1F2430"/>
                </a:solidFill>
                <a:latin typeface="Arial"/>
              </a:rPr>
              <a:t>Recommended next steps</a:t>
            </a:r>
          </a:p>
        </p:txBody>
      </p:sp>
      <p:sp>
        <p:nvSpPr>
          <p:cNvPr id="4" name="implications"/>
          <p:cNvSpPr txBox="1"/>
          <p:nvPr/>
        </p:nvSpPr>
        <p:spPr>
          <a:xfrm>
            <a:off x="685800" y="1353312"/>
            <a:ext cx="10424160" cy="4343400"/>
          </a:xfrm>
          <a:prstGeom prst="rect">
            <a:avLst/>
          </a:prstGeom>
          <a:noFill/>
        </p:spPr>
        <p:txBody>
          <a:bodyPr wrap="square" lIns="50800" tIns="12700" rIns="50800" bIns="12700">
            <a:spAutoFit/>
          </a:bodyPr>
          <a:lstStyle/>
          <a:p>
            <a:pPr marL="285750" indent="-142875">
              <a:buChar char="•"/>
            </a:pPr>
            <a:r>
              <a:rPr sz="1460">
                <a:solidFill>
                  <a:srgbClr val="1F2430"/>
                </a:solidFill>
                <a:latin typeface="Arial"/>
              </a:rPr>
              <a:t>Integrate the released RLDX-1 RoboCasa checkpoint behind the existing model-agnostic policy interface.</a:t>
            </a:r>
          </a:p>
          <a:p>
            <a:pPr marL="285750" indent="-142875">
              <a:buChar char="•"/>
            </a:pPr>
            <a:r>
              <a:rPr sz="1460">
                <a:solidFill>
                  <a:srgbClr val="1F2430"/>
                </a:solidFill>
                <a:latin typeface="Arial"/>
              </a:rPr>
              <a:t>Run a six-task pilot with matched pi0 and RLDX-1 rollouts; estimate useful-failure yield and failure-depth distributions before recollecting at scale.</a:t>
            </a:r>
          </a:p>
          <a:p>
            <a:pPr marL="285750" indent="-142875">
              <a:buChar char="•"/>
            </a:pPr>
            <a:r>
              <a:rPr sz="1460">
                <a:solidFill>
                  <a:srgbClr val="1F2430"/>
                </a:solidFill>
                <a:latin typeface="Arial"/>
              </a:rPr>
              <a:t>Extend annotations with failure onset, last-good checkpoint, retryable/state-breaking class, completed prefix, and forked candidate outcomes.</a:t>
            </a:r>
          </a:p>
          <a:p>
            <a:pPr marL="285750" indent="-142875">
              <a:buChar char="•"/>
            </a:pPr>
            <a:r>
              <a:rPr sz="1460">
                <a:solidFill>
                  <a:srgbClr val="1F2430"/>
                </a:solidFill>
                <a:latin typeface="Arial"/>
              </a:rPr>
              <a:t>Implement EEF rollback plus unguided retry as the minimum baseline.</a:t>
            </a:r>
          </a:p>
          <a:p>
            <a:pPr marL="285750" indent="-142875">
              <a:buChar char="•"/>
            </a:pPr>
            <a:r>
              <a:rPr sz="1460">
                <a:solidFill>
                  <a:srgbClr val="1F2430"/>
                </a:solidFill>
                <a:latin typeface="Arial"/>
              </a:rPr>
              <a:t>Train the subtask critic and compare reranking against unguided retry from identical checkpoints.</a:t>
            </a:r>
          </a:p>
        </p:txBody>
      </p:sp>
      <p:sp>
        <p:nvSpPr>
          <p:cNvPr id="5" name="source-note"/>
          <p:cNvSpPr txBox="1"/>
          <p:nvPr/>
        </p:nvSpPr>
        <p:spPr>
          <a:xfrm>
            <a:off x="566928" y="6419088"/>
            <a:ext cx="11064240" cy="310896"/>
          </a:xfrm>
          <a:prstGeom prst="rect">
            <a:avLst/>
          </a:prstGeom>
          <a:noFill/>
        </p:spPr>
        <p:txBody>
          <a:bodyPr wrap="square" lIns="50800" tIns="12700" rIns="50800" bIns="12700" anchor="t">
            <a:spAutoFit/>
          </a:bodyPr>
          <a:lstStyle/>
          <a:p>
            <a:pPr algn="l"/>
            <a:r>
              <a:rPr sz="750" b="0">
                <a:solidFill>
                  <a:srgbClr val="6F768A"/>
                </a:solidFill>
                <a:latin typeface="Arial"/>
              </a:rPr>
              <a:t>Source: report implications section.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slide-title"/>
          <p:cNvSpPr txBox="1"/>
          <p:nvPr/>
        </p:nvSpPr>
        <p:spPr>
          <a:xfrm>
            <a:off x="566928" y="384048"/>
            <a:ext cx="10972800" cy="502920"/>
          </a:xfrm>
          <a:prstGeom prst="rect">
            <a:avLst/>
          </a:prstGeom>
          <a:noFill/>
        </p:spPr>
        <p:txBody>
          <a:bodyPr wrap="square" lIns="50800" tIns="12700" rIns="50800" bIns="12700" anchor="t">
            <a:spAutoFit/>
          </a:bodyPr>
          <a:lstStyle/>
          <a:p>
            <a:pPr algn="l"/>
            <a:r>
              <a:rPr sz="2300" b="1">
                <a:solidFill>
                  <a:srgbClr val="1F2430"/>
                </a:solidFill>
                <a:latin typeface="Arial"/>
              </a:rPr>
              <a:t>Limitations and robustness checks</a:t>
            </a:r>
          </a:p>
        </p:txBody>
      </p:sp>
      <p:sp>
        <p:nvSpPr>
          <p:cNvPr id="4" name="caveats-rule"/>
          <p:cNvSpPr/>
          <p:nvPr/>
        </p:nvSpPr>
        <p:spPr>
          <a:xfrm>
            <a:off x="658368" y="1078992"/>
            <a:ext cx="1097280" cy="22860"/>
          </a:xfrm>
          <a:prstGeom prst="rect">
            <a:avLst/>
          </a:prstGeom>
          <a:solidFill>
            <a:srgbClr val="B8A037"/>
          </a:solidFill>
          <a:ln>
            <a:solidFill>
              <a:srgbClr val="B8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aveats"/>
          <p:cNvSpPr txBox="1"/>
          <p:nvPr/>
        </p:nvSpPr>
        <p:spPr>
          <a:xfrm>
            <a:off x="841248" y="1389888"/>
            <a:ext cx="10195560" cy="4434840"/>
          </a:xfrm>
          <a:prstGeom prst="rect">
            <a:avLst/>
          </a:prstGeom>
          <a:noFill/>
        </p:spPr>
        <p:txBody>
          <a:bodyPr wrap="square" lIns="50800" tIns="12700" rIns="50800" bIns="12700">
            <a:spAutoFit/>
          </a:bodyPr>
          <a:lstStyle/>
          <a:p>
            <a:pPr marL="285750" indent="-142875">
              <a:buChar char="•"/>
            </a:pPr>
            <a:r>
              <a:rPr sz="1510">
                <a:solidFill>
                  <a:srgbClr val="1F2430"/>
                </a:solidFill>
                <a:latin typeface="Arial"/>
              </a:rPr>
              <a:t>Simulator privilege: EEF pose restoration must be reported separately from full environment restoration; the latter is an oracle.</a:t>
            </a:r>
          </a:p>
          <a:p>
            <a:pPr marL="285750" indent="-142875">
              <a:buChar char="•"/>
            </a:pPr>
            <a:r>
              <a:rPr sz="1510">
                <a:solidFill>
                  <a:srgbClr val="1F2430"/>
                </a:solidFill>
                <a:latin typeface="Arial"/>
              </a:rPr>
              <a:t>Policy dependence: failure distributions shift with policy competence. Train/evaluate across pi0 and RLDX-1, or explicitly limit claims to one policy family.</a:t>
            </a:r>
          </a:p>
          <a:p>
            <a:pPr marL="285750" indent="-142875">
              <a:buChar char="•"/>
            </a:pPr>
            <a:r>
              <a:rPr sz="1510">
                <a:solidFill>
                  <a:srgbClr val="1F2430"/>
                </a:solidFill>
                <a:latin typeface="Arial"/>
              </a:rPr>
              <a:t>Multiple valid subtask orders: condition on semantic subtask identity and the observed completed prefix, not a fixed global index.</a:t>
            </a:r>
          </a:p>
          <a:p>
            <a:pPr marL="285750" indent="-142875">
              <a:buChar char="•"/>
            </a:pPr>
            <a:r>
              <a:rPr sz="1510">
                <a:solidFill>
                  <a:srgbClr val="1F2430"/>
                </a:solidFill>
                <a:latin typeface="Arial"/>
              </a:rPr>
              <a:t>Success is not safety: add drop, contact, spill, collision, and success-but-unsafe metrics rather than relying only on task predicates.</a:t>
            </a:r>
          </a:p>
          <a:p>
            <a:pPr marL="285750" indent="-142875">
              <a:buChar char="•"/>
            </a:pPr>
            <a:r>
              <a:rPr sz="1510">
                <a:solidFill>
                  <a:srgbClr val="1F2430"/>
                </a:solidFill>
                <a:latin typeface="Arial"/>
              </a:rPr>
              <a:t>Critic exploitation: compare critic predictions with deterministic fork outcomes, monitor calibration, and test whether aggressive guidance degrades clean rollouts.</a:t>
            </a:r>
          </a:p>
        </p:txBody>
      </p:sp>
      <p:sp>
        <p:nvSpPr>
          <p:cNvPr id="6" name="source-note"/>
          <p:cNvSpPr txBox="1"/>
          <p:nvPr/>
        </p:nvSpPr>
        <p:spPr>
          <a:xfrm>
            <a:off x="566928" y="6419088"/>
            <a:ext cx="11064240" cy="310896"/>
          </a:xfrm>
          <a:prstGeom prst="rect">
            <a:avLst/>
          </a:prstGeom>
          <a:noFill/>
        </p:spPr>
        <p:txBody>
          <a:bodyPr wrap="square" lIns="50800" tIns="12700" rIns="50800" bIns="12700" anchor="t">
            <a:spAutoFit/>
          </a:bodyPr>
          <a:lstStyle/>
          <a:p>
            <a:pPr algn="l"/>
            <a:r>
              <a:rPr sz="750" b="0">
                <a:solidFill>
                  <a:srgbClr val="6F768A"/>
                </a:solidFill>
                <a:latin typeface="Arial"/>
              </a:rPr>
              <a:t>Source: report caveats and assumptions section.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slide-title"/>
          <p:cNvSpPr txBox="1"/>
          <p:nvPr/>
        </p:nvSpPr>
        <p:spPr>
          <a:xfrm>
            <a:off x="566928" y="384048"/>
            <a:ext cx="10972800" cy="502920"/>
          </a:xfrm>
          <a:prstGeom prst="rect">
            <a:avLst/>
          </a:prstGeom>
          <a:noFill/>
        </p:spPr>
        <p:txBody>
          <a:bodyPr wrap="square" lIns="50800" tIns="12700" rIns="50800" bIns="12700" anchor="t">
            <a:spAutoFit/>
          </a:bodyPr>
          <a:lstStyle/>
          <a:p>
            <a:pPr algn="l"/>
            <a:r>
              <a:rPr sz="2300" b="1">
                <a:solidFill>
                  <a:srgbClr val="1F2430"/>
                </a:solidFill>
                <a:latin typeface="Arial"/>
              </a:rPr>
              <a:t>Sources</a:t>
            </a:r>
          </a:p>
        </p:txBody>
      </p:sp>
      <p:sp>
        <p:nvSpPr>
          <p:cNvPr id="4" name="sources-rule"/>
          <p:cNvSpPr/>
          <p:nvPr/>
        </p:nvSpPr>
        <p:spPr>
          <a:xfrm>
            <a:off x="658368" y="1078992"/>
            <a:ext cx="1097280" cy="22860"/>
          </a:xfrm>
          <a:prstGeom prst="rect">
            <a:avLst/>
          </a:prstGeom>
          <a:solidFill>
            <a:srgbClr val="B8A037"/>
          </a:solidFill>
          <a:ln>
            <a:solidFill>
              <a:srgbClr val="B8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ources"/>
          <p:cNvSpPr txBox="1"/>
          <p:nvPr/>
        </p:nvSpPr>
        <p:spPr>
          <a:xfrm>
            <a:off x="841248" y="1261872"/>
            <a:ext cx="10195560" cy="4983480"/>
          </a:xfrm>
          <a:prstGeom prst="rect">
            <a:avLst/>
          </a:prstGeom>
          <a:noFill/>
        </p:spPr>
        <p:txBody>
          <a:bodyPr wrap="square" lIns="50800" tIns="12700" rIns="50800" bIns="12700">
            <a:spAutoFit/>
          </a:bodyPr>
          <a:lstStyle/>
          <a:p>
            <a:pPr marL="285750" indent="-142875">
              <a:buChar char="•"/>
            </a:pPr>
            <a:r>
              <a:rPr sz="1060">
                <a:solidFill>
                  <a:srgbClr val="1F2430"/>
                </a:solidFill>
                <a:latin typeface="Arial"/>
              </a:rPr>
              <a:t>Current project report and research notes duckdb · 2026-07-12T00:00:00+09:00 Materializes the reviewed experimental ladder from the current project report.</a:t>
            </a:r>
          </a:p>
          <a:p>
            <a:pPr marL="285750" indent="-142875">
              <a:buChar char="•"/>
            </a:pPr>
            <a:r>
              <a:rPr sz="1060">
                <a:solidFill>
                  <a:srgbClr val="1F2430"/>
                </a:solidFill>
                <a:latin typeface="Arial"/>
              </a:rPr>
              <a:t>SQL query SELECT * FROM (VALUES (1, 'Oracle failure onset plus EEF rollback and unguided retry'), (2, 'EEF rollback plus subtask-critic reranking'), (3, 'Learned temporal detector and recovery router'), (4, 'Subtask-conditioned direct flow guidance'), (5, 'Explicit reset skills for...</a:t>
            </a:r>
          </a:p>
          <a:p>
            <a:pPr marL="285750" indent="-142875">
              <a:buChar char="•"/>
            </a:pPr>
            <a:r>
              <a:rPr sz="1060">
                <a:solidFill>
                  <a:srgbClr val="1F2430"/>
                </a:solidFill>
                <a:latin typeface="Arial"/>
              </a:rPr>
              <a:t>RoboCasa365 official site and release notes</a:t>
            </a:r>
          </a:p>
          <a:p>
            <a:pPr marL="285750" indent="-142875">
              <a:buChar char="•"/>
            </a:pPr>
            <a:r>
              <a:rPr sz="1060">
                <a:solidFill>
                  <a:srgbClr val="1F2430"/>
                </a:solidFill>
                <a:latin typeface="Arial"/>
              </a:rPr>
              <a:t>RoboCasa365 official leaderboard duckdb · 2026-07-12T00:00:00+09:00 Materializes the reviewed RoboCasa365 policy-by-split leaderboard values used in this report.</a:t>
            </a:r>
          </a:p>
          <a:p>
            <a:pPr marL="285750" indent="-142875">
              <a:buChar char="•"/>
            </a:pPr>
            <a:r>
              <a:rPr sz="1060">
                <a:solidFill>
                  <a:srgbClr val="1F2430"/>
                </a:solidFill>
                <a:latin typeface="Arial"/>
              </a:rPr>
              <a:t>SQL query SELECT * FROM (VALUES ('pi0', 'Atomic seen', 0.346), ('pi0', 'Composite seen', 0.061), ('pi0', 'Composite unseen', 0.011), ('pi0.5', 'Atomic seen', 0.396), ('pi0.5', 'Composite seen', 0.071), ('pi0.5', 'Composite unseen', 0.012), ('GR00T N1.5', 'Atomic seen', 0.507), ('GR00T N1.5',...</a:t>
            </a:r>
          </a:p>
          <a:p>
            <a:pPr marL="285750" indent="-142875">
              <a:buChar char="•"/>
            </a:pPr>
            <a:r>
              <a:rPr sz="1060">
                <a:solidFill>
                  <a:srgbClr val="1F2430"/>
                </a:solidFill>
                <a:latin typeface="Arial"/>
              </a:rPr>
              <a:t>RoboCasa365 multi-task learning documentation</a:t>
            </a:r>
          </a:p>
        </p:txBody>
      </p:sp>
      <p:sp>
        <p:nvSpPr>
          <p:cNvPr id="6" name="source-note"/>
          <p:cNvSpPr txBox="1"/>
          <p:nvPr/>
        </p:nvSpPr>
        <p:spPr>
          <a:xfrm>
            <a:off x="566928" y="6419088"/>
            <a:ext cx="11064240" cy="310896"/>
          </a:xfrm>
          <a:prstGeom prst="rect">
            <a:avLst/>
          </a:prstGeom>
          <a:noFill/>
        </p:spPr>
        <p:txBody>
          <a:bodyPr wrap="square" lIns="50800" tIns="12700" rIns="50800" bIns="12700" anchor="t">
            <a:spAutoFit/>
          </a:bodyPr>
          <a:lstStyle/>
          <a:p>
            <a:pPr algn="l"/>
            <a:r>
              <a:rPr sz="750" b="0">
                <a:solidFill>
                  <a:srgbClr val="6F768A"/>
                </a:solidFill>
                <a:latin typeface="Arial"/>
              </a:rPr>
              <a:t>Source: report sources and reproducibility section.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TotalTime>
  <Words>1194</Words>
  <Application>Microsoft Macintosh PowerPoint</Application>
  <PresentationFormat>Widescreen</PresentationFormat>
  <Paragraphs>172</Paragraphs>
  <Slides>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Félix Doublet</cp:lastModifiedBy>
  <cp:revision>2</cp:revision>
  <dcterms:created xsi:type="dcterms:W3CDTF">2013-01-27T09:14:16Z</dcterms:created>
  <dcterms:modified xsi:type="dcterms:W3CDTF">2026-07-12T07:41:42Z</dcterms:modified>
  <cp:category/>
</cp:coreProperties>
</file>